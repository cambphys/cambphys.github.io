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48" name="Shape 148"/>
          <p:cNvSpPr/>
          <p:nvPr>
            <p:ph type="sldImg"/>
          </p:nvPr>
        </p:nvSpPr>
        <p:spPr>
          <a:xfrm>
            <a:off x="1143000" y="685800"/>
            <a:ext cx="4572000" cy="3429000"/>
          </a:xfrm>
          <a:prstGeom prst="rect">
            <a:avLst/>
          </a:prstGeom>
        </p:spPr>
        <p:txBody>
          <a:bodyPr/>
          <a:lstStyle/>
          <a:p>
            <a:pPr/>
          </a:p>
        </p:txBody>
      </p:sp>
      <p:sp>
        <p:nvSpPr>
          <p:cNvPr id="149" name="Shape 14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bg>
      <p:bgPr>
        <a:solidFill>
          <a:srgbClr val="003462"/>
        </a:solidFill>
      </p:bgPr>
    </p:bg>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1340" y="11847162"/>
            <a:ext cx="21971003" cy="636979"/>
          </a:xfrm>
          <a:prstGeom prst="rect">
            <a:avLst/>
          </a:prstGeom>
        </p:spPr>
        <p:txBody>
          <a:bodyPr lIns="45719" tIns="45719" rIns="45719" bIns="45719"/>
          <a:lstStyle>
            <a:lvl1pPr marL="0" indent="0" defTabSz="825500">
              <a:lnSpc>
                <a:spcPct val="100000"/>
              </a:lnSpc>
              <a:spcBef>
                <a:spcPts val="0"/>
              </a:spcBef>
              <a:buSzTx/>
              <a:buNone/>
              <a:defRPr b="1" sz="3600">
                <a:solidFill>
                  <a:srgbClr val="FFFFFF"/>
                </a:solidFill>
              </a:defRPr>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defRPr spc="-232" sz="11600">
                <a:solidFill>
                  <a:srgbClr val="FFFFFF"/>
                </a:solidFill>
              </a:defRPr>
            </a:lvl1pPr>
          </a:lstStyle>
          <a:p>
            <a:pPr/>
            <a:r>
              <a:t>Presentation Title</a:t>
            </a:r>
          </a:p>
        </p:txBody>
      </p:sp>
      <p:sp>
        <p:nvSpPr>
          <p:cNvPr id="13" name="Body Level One…"/>
          <p:cNvSpPr txBox="1"/>
          <p:nvPr>
            <p:ph type="body" sz="quarter" idx="1" hasCustomPrompt="1"/>
          </p:nvPr>
        </p:nvSpPr>
        <p:spPr>
          <a:xfrm>
            <a:off x="1201342" y="7210490"/>
            <a:ext cx="21971001" cy="1905001"/>
          </a:xfrm>
          <a:prstGeom prst="rect">
            <a:avLst/>
          </a:prstGeom>
        </p:spPr>
        <p:txBody>
          <a:bodyPr/>
          <a:lstStyle>
            <a:lvl1pPr marL="0" indent="0" defTabSz="825500">
              <a:lnSpc>
                <a:spcPct val="100000"/>
              </a:lnSpc>
              <a:spcBef>
                <a:spcPts val="0"/>
              </a:spcBef>
              <a:buSzTx/>
              <a:buNone/>
              <a:defRPr b="1" sz="5500">
                <a:solidFill>
                  <a:schemeClr val="accent1"/>
                </a:solidFill>
              </a:defRPr>
            </a:lvl1pPr>
            <a:lvl2pPr marL="0" indent="457200" defTabSz="825500">
              <a:lnSpc>
                <a:spcPct val="100000"/>
              </a:lnSpc>
              <a:spcBef>
                <a:spcPts val="0"/>
              </a:spcBef>
              <a:buSzTx/>
              <a:buNone/>
              <a:defRPr b="1" sz="5500">
                <a:solidFill>
                  <a:schemeClr val="accent1"/>
                </a:solidFill>
              </a:defRPr>
            </a:lvl2pPr>
            <a:lvl3pPr marL="0" indent="914400" defTabSz="825500">
              <a:lnSpc>
                <a:spcPct val="100000"/>
              </a:lnSpc>
              <a:spcBef>
                <a:spcPts val="0"/>
              </a:spcBef>
              <a:buSzTx/>
              <a:buNone/>
              <a:defRPr b="1" sz="5500">
                <a:solidFill>
                  <a:schemeClr val="accent1"/>
                </a:solidFill>
              </a:defRPr>
            </a:lvl3pPr>
            <a:lvl4pPr marL="0" indent="1371600" defTabSz="825500">
              <a:lnSpc>
                <a:spcPct val="100000"/>
              </a:lnSpc>
              <a:spcBef>
                <a:spcPts val="0"/>
              </a:spcBef>
              <a:buSzTx/>
              <a:buNone/>
              <a:defRPr b="1" sz="5500">
                <a:solidFill>
                  <a:schemeClr val="accent1"/>
                </a:solidFill>
              </a:defRPr>
            </a:lvl4pPr>
            <a:lvl5pPr marL="0" indent="1828800" defTabSz="825500">
              <a:lnSpc>
                <a:spcPct val="100000"/>
              </a:lnSpc>
              <a:spcBef>
                <a:spcPts val="0"/>
              </a:spcBef>
              <a:buSzTx/>
              <a:buNone/>
              <a:defRPr b="1" sz="5500">
                <a:solidFill>
                  <a:schemeClr val="accent1"/>
                </a:solidFill>
              </a:defRPr>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Close-up of the top of a hot-air balloon viewed from above"/>
          <p:cNvSpPr/>
          <p:nvPr>
            <p:ph type="pic" idx="21"/>
          </p:nvPr>
        </p:nvSpPr>
        <p:spPr>
          <a:xfrm>
            <a:off x="0" y="-1270000"/>
            <a:ext cx="24384000" cy="16256000"/>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solidFill>
                  <a:srgbClr val="FFFFFF"/>
                </a:solidFill>
              </a:defRPr>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24" name="Body Level One…"/>
          <p:cNvSpPr txBox="1"/>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b="1" sz="5500">
                <a:solidFill>
                  <a:srgbClr val="FFFFFF"/>
                </a:solidFill>
              </a:defRPr>
            </a:lvl1pPr>
            <a:lvl2pPr marL="0" indent="457200" defTabSz="825500">
              <a:lnSpc>
                <a:spcPct val="100000"/>
              </a:lnSpc>
              <a:spcBef>
                <a:spcPts val="0"/>
              </a:spcBef>
              <a:buSzTx/>
              <a:buNone/>
              <a:defRPr b="1" sz="5500">
                <a:solidFill>
                  <a:srgbClr val="FFFFFF"/>
                </a:solidFill>
              </a:defRPr>
            </a:lvl2pPr>
            <a:lvl3pPr marL="0" indent="914400" defTabSz="825500">
              <a:lnSpc>
                <a:spcPct val="100000"/>
              </a:lnSpc>
              <a:spcBef>
                <a:spcPts val="0"/>
              </a:spcBef>
              <a:buSzTx/>
              <a:buNone/>
              <a:defRPr b="1" sz="5500">
                <a:solidFill>
                  <a:srgbClr val="FFFFFF"/>
                </a:solidFill>
              </a:defRPr>
            </a:lvl3pPr>
            <a:lvl4pPr marL="0" indent="1371600" defTabSz="825500">
              <a:lnSpc>
                <a:spcPct val="100000"/>
              </a:lnSpc>
              <a:spcBef>
                <a:spcPts val="0"/>
              </a:spcBef>
              <a:buSzTx/>
              <a:buNone/>
              <a:defRPr b="1" sz="5500">
                <a:solidFill>
                  <a:srgbClr val="FFFFFF"/>
                </a:solidFill>
              </a:defRPr>
            </a:lvl4pPr>
            <a:lvl5pPr marL="0" indent="1828800" defTabSz="825500">
              <a:lnSpc>
                <a:spcPct val="100000"/>
              </a:lnSpc>
              <a:spcBef>
                <a:spcPts val="0"/>
              </a:spcBef>
              <a:buSzTx/>
              <a:buNone/>
              <a:defRPr b="1" sz="5500">
                <a:solidFill>
                  <a:srgbClr val="FFFFFF"/>
                </a:solidFill>
              </a:defRPr>
            </a:lvl5p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Close-up of a hot-air balloon viewed from below"/>
          <p:cNvSpPr/>
          <p:nvPr>
            <p:ph type="pic" idx="21"/>
          </p:nvPr>
        </p:nvSpPr>
        <p:spPr>
          <a:xfrm>
            <a:off x="9226574" y="1270000"/>
            <a:ext cx="16840152" cy="11184435"/>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245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206500" y="2247900"/>
            <a:ext cx="9779000" cy="934779"/>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61"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62" name="Hot-air balloons viewed from below against a blue sky"/>
          <p:cNvSpPr/>
          <p:nvPr>
            <p:ph type="pic" idx="22"/>
          </p:nvPr>
        </p:nvSpPr>
        <p:spPr>
          <a:xfrm>
            <a:off x="8432800" y="1263848"/>
            <a:ext cx="16850011" cy="11188205"/>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206500" y="952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bg>
      <p:bgPr>
        <a:solidFill>
          <a:srgbClr val="003462"/>
        </a:solidFill>
      </p:bgPr>
    </p:bg>
    <p:spTree>
      <p:nvGrpSpPr>
        <p:cNvPr id="1" name=""/>
        <p:cNvGrpSpPr/>
        <p:nvPr/>
      </p:nvGrpSpPr>
      <p:grpSpPr>
        <a:xfrm>
          <a:off x="0" y="0"/>
          <a:ext cx="0" cy="0"/>
          <a:chOff x="0" y="0"/>
          <a:chExt cx="0" cy="0"/>
        </a:xfrm>
      </p:grpSpPr>
      <p:sp>
        <p:nvSpPr>
          <p:cNvPr id="71" name="Section Title"/>
          <p:cNvSpPr txBox="1"/>
          <p:nvPr>
            <p:ph type="title" hasCustomPrompt="1"/>
          </p:nvPr>
        </p:nvSpPr>
        <p:spPr>
          <a:xfrm>
            <a:off x="1206496" y="4533900"/>
            <a:ext cx="21971004" cy="4648200"/>
          </a:xfrm>
          <a:prstGeom prst="rect">
            <a:avLst/>
          </a:prstGeom>
        </p:spPr>
        <p:txBody>
          <a:bodyPr anchor="ctr"/>
          <a:lstStyle>
            <a:lvl1pPr>
              <a:defRPr b="0" spc="-232" sz="11600">
                <a:solidFill>
                  <a:srgbClr val="FFFFFF"/>
                </a:solidFill>
                <a:latin typeface="Helvetica Neue Medium"/>
                <a:ea typeface="Helvetica Neue Medium"/>
                <a:cs typeface="Helvetica Neue Medium"/>
                <a:sym typeface="Helvetica Neue Medium"/>
              </a:defRPr>
            </a:lvl1pPr>
          </a:lstStyle>
          <a:p>
            <a:pPr/>
            <a:r>
              <a:t>Section Title</a:t>
            </a:r>
          </a:p>
        </p:txBody>
      </p:sp>
      <p:sp>
        <p:nvSpPr>
          <p:cNvPr id="72" name="Slide Number"/>
          <p:cNvSpPr txBox="1"/>
          <p:nvPr>
            <p:ph type="sldNum" sz="quarter" idx="2"/>
          </p:nvPr>
        </p:nvSpPr>
        <p:spPr>
          <a:xfrm>
            <a:off x="12001499" y="13085233"/>
            <a:ext cx="368505" cy="374600"/>
          </a:xfrm>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79" name="Slide Title"/>
          <p:cNvSpPr txBox="1"/>
          <p:nvPr>
            <p:ph type="title" hasCustomPrompt="1"/>
          </p:nvPr>
        </p:nvSpPr>
        <p:spPr>
          <a:xfrm>
            <a:off x="1206500" y="952500"/>
            <a:ext cx="21971000" cy="1434949"/>
          </a:xfrm>
          <a:prstGeom prst="rect">
            <a:avLst/>
          </a:prstGeom>
        </p:spPr>
        <p:txBody>
          <a:bodyPr/>
          <a:lstStyle/>
          <a:p>
            <a:pPr/>
            <a:r>
              <a:t>Slide Title</a:t>
            </a:r>
          </a:p>
        </p:txBody>
      </p:sp>
      <p:sp>
        <p:nvSpPr>
          <p:cNvPr id="80" name="Slide Subtitle"/>
          <p:cNvSpPr txBox="1"/>
          <p:nvPr>
            <p:ph type="body" sz="quarter" idx="21" hasCustomPrompt="1"/>
          </p:nvPr>
        </p:nvSpPr>
        <p:spPr>
          <a:xfrm>
            <a:off x="1206500" y="2247900"/>
            <a:ext cx="21971000" cy="934779"/>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8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88" name="Agenda Title"/>
          <p:cNvSpPr txBox="1"/>
          <p:nvPr>
            <p:ph type="title" hasCustomPrompt="1"/>
          </p:nvPr>
        </p:nvSpPr>
        <p:spPr>
          <a:xfrm>
            <a:off x="1206500" y="952500"/>
            <a:ext cx="21971000" cy="1435100"/>
          </a:xfrm>
          <a:prstGeom prst="rect">
            <a:avLst/>
          </a:prstGeom>
        </p:spPr>
        <p:txBody>
          <a:bodyPr/>
          <a:lstStyle/>
          <a:p>
            <a:pPr/>
            <a:r>
              <a:t>Agenda Title</a:t>
            </a:r>
          </a:p>
        </p:txBody>
      </p:sp>
      <p:sp>
        <p:nvSpPr>
          <p:cNvPr id="89" name="Agenda Subtitle"/>
          <p:cNvSpPr txBox="1"/>
          <p:nvPr>
            <p:ph type="body" sz="quarter" idx="21" hasCustomPrompt="1"/>
          </p:nvPr>
        </p:nvSpPr>
        <p:spPr>
          <a:xfrm>
            <a:off x="1206500" y="2247900"/>
            <a:ext cx="21971000" cy="934779"/>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Agenda Subtitle</a:t>
            </a:r>
          </a:p>
        </p:txBody>
      </p:sp>
      <p:sp>
        <p:nvSpPr>
          <p:cNvPr id="90" name="Body Level One…"/>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Agenda Topics</a:t>
            </a:r>
          </a:p>
          <a:p>
            <a:pPr lvl="1"/>
            <a:r>
              <a:t/>
            </a:r>
          </a:p>
          <a:p>
            <a:pPr lvl="2"/>
            <a:r>
              <a:t/>
            </a:r>
          </a:p>
          <a:p>
            <a:pPr lvl="3"/>
            <a:r>
              <a:t/>
            </a:r>
          </a:p>
          <a:p>
            <a:pPr lvl="4"/>
            <a:r>
              <a:t/>
            </a:r>
          </a:p>
        </p:txBody>
      </p:sp>
      <p:sp>
        <p:nvSpPr>
          <p:cNvPr id="9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98" name="Body Level One…"/>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solidFill>
                  <a:schemeClr val="accent1">
                    <a:hueOff val="114395"/>
                    <a:lumOff val="-24975"/>
                  </a:schemeClr>
                </a:solidFill>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232" sz="11600">
                <a:solidFill>
                  <a:schemeClr val="accent1">
                    <a:hueOff val="114395"/>
                    <a:lumOff val="-24975"/>
                  </a:schemeClr>
                </a:solidFill>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232" sz="11600">
                <a:solidFill>
                  <a:schemeClr val="accent1">
                    <a:hueOff val="114395"/>
                    <a:lumOff val="-24975"/>
                  </a:schemeClr>
                </a:solidFill>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232" sz="11600">
                <a:solidFill>
                  <a:schemeClr val="accent1">
                    <a:hueOff val="114395"/>
                    <a:lumOff val="-24975"/>
                  </a:schemeClr>
                </a:solidFill>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232" sz="11600">
                <a:solidFill>
                  <a:schemeClr val="accent1">
                    <a:hueOff val="114395"/>
                    <a:lumOff val="-24975"/>
                  </a:schemeClr>
                </a:solidFill>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9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06" name="Body Level One…"/>
          <p:cNvSpPr txBox="1"/>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b="1" spc="-250" sz="25000">
                <a:solidFill>
                  <a:schemeClr val="accent1">
                    <a:hueOff val="114395"/>
                    <a:lumOff val="-24975"/>
                  </a:schemeClr>
                </a:solidFill>
              </a:defRPr>
            </a:lvl1pPr>
            <a:lvl2pPr marL="0" indent="457200" algn="ctr">
              <a:lnSpc>
                <a:spcPct val="80000"/>
              </a:lnSpc>
              <a:spcBef>
                <a:spcPts val="0"/>
              </a:spcBef>
              <a:buSzTx/>
              <a:buNone/>
              <a:defRPr b="1" spc="-250" sz="25000">
                <a:solidFill>
                  <a:schemeClr val="accent1">
                    <a:hueOff val="114395"/>
                    <a:lumOff val="-24975"/>
                  </a:schemeClr>
                </a:solidFill>
              </a:defRPr>
            </a:lvl2pPr>
            <a:lvl3pPr marL="0" indent="914400" algn="ctr">
              <a:lnSpc>
                <a:spcPct val="80000"/>
              </a:lnSpc>
              <a:spcBef>
                <a:spcPts val="0"/>
              </a:spcBef>
              <a:buSzTx/>
              <a:buNone/>
              <a:defRPr b="1" spc="-250" sz="25000">
                <a:solidFill>
                  <a:schemeClr val="accent1">
                    <a:hueOff val="114395"/>
                    <a:lumOff val="-24975"/>
                  </a:schemeClr>
                </a:solidFill>
              </a:defRPr>
            </a:lvl3pPr>
            <a:lvl4pPr marL="0" indent="1371600" algn="ctr">
              <a:lnSpc>
                <a:spcPct val="80000"/>
              </a:lnSpc>
              <a:spcBef>
                <a:spcPts val="0"/>
              </a:spcBef>
              <a:buSzTx/>
              <a:buNone/>
              <a:defRPr b="1" spc="-250" sz="25000">
                <a:solidFill>
                  <a:schemeClr val="accent1">
                    <a:hueOff val="114395"/>
                    <a:lumOff val="-24975"/>
                  </a:schemeClr>
                </a:solidFill>
              </a:defRPr>
            </a:lvl4pPr>
            <a:lvl5pPr marL="0" indent="1828800" algn="ctr">
              <a:lnSpc>
                <a:spcPct val="80000"/>
              </a:lnSpc>
              <a:spcBef>
                <a:spcPts val="0"/>
              </a:spcBef>
              <a:buSzTx/>
              <a:buNone/>
              <a:defRPr b="1" spc="-250" sz="25000">
                <a:solidFill>
                  <a:schemeClr val="accent1">
                    <a:hueOff val="114395"/>
                    <a:lumOff val="-24975"/>
                  </a:schemeClr>
                </a:solidFill>
              </a:defRPr>
            </a:lvl5pPr>
          </a:lstStyle>
          <a:p>
            <a:pPr/>
            <a:r>
              <a:t>100%</a:t>
            </a:r>
          </a:p>
          <a:p>
            <a:pPr lvl="1"/>
            <a:r>
              <a:t/>
            </a:r>
          </a:p>
          <a:p>
            <a:pPr lvl="2"/>
            <a:r>
              <a:t/>
            </a:r>
          </a:p>
          <a:p>
            <a:pPr lvl="3"/>
            <a:r>
              <a:t/>
            </a:r>
          </a:p>
          <a:p>
            <a:pPr lvl="4"/>
            <a:r>
              <a:t/>
            </a:r>
          </a:p>
        </p:txBody>
      </p:sp>
      <p:sp>
        <p:nvSpPr>
          <p:cNvPr id="107"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Fact information</a:t>
            </a:r>
          </a:p>
        </p:txBody>
      </p:sp>
      <p:sp>
        <p:nvSpPr>
          <p:cNvPr id="10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15" name="Attribution"/>
          <p:cNvSpPr txBox="1"/>
          <p:nvPr>
            <p:ph type="body" sz="quarter" idx="21" hasCustomPrompt="1"/>
          </p:nvPr>
        </p:nvSpPr>
        <p:spPr>
          <a:xfrm>
            <a:off x="2480825" y="10675453"/>
            <a:ext cx="201492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Attribution</a:t>
            </a:r>
          </a:p>
        </p:txBody>
      </p:sp>
      <p:sp>
        <p:nvSpPr>
          <p:cNvPr id="116" name="Body Level One…"/>
          <p:cNvSpPr txBox="1"/>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pc="-170" sz="8500">
                <a:solidFill>
                  <a:schemeClr val="accent1">
                    <a:hueOff val="114395"/>
                    <a:lumOff val="-24975"/>
                  </a:schemeClr>
                </a:solidFill>
                <a:latin typeface="Helvetica Neue Medium"/>
                <a:ea typeface="Helvetica Neue Medium"/>
                <a:cs typeface="Helvetica Neue Medium"/>
                <a:sym typeface="Helvetica Neue Medium"/>
              </a:defRPr>
            </a:lvl1pPr>
            <a:lvl2pPr marL="638923" indent="-12700">
              <a:spcBef>
                <a:spcPts val="0"/>
              </a:spcBef>
              <a:buSzTx/>
              <a:buNone/>
              <a:defRPr spc="-170" sz="8500">
                <a:solidFill>
                  <a:schemeClr val="accent1">
                    <a:hueOff val="114395"/>
                    <a:lumOff val="-24975"/>
                  </a:schemeClr>
                </a:solidFill>
                <a:latin typeface="Helvetica Neue Medium"/>
                <a:ea typeface="Helvetica Neue Medium"/>
                <a:cs typeface="Helvetica Neue Medium"/>
                <a:sym typeface="Helvetica Neue Medium"/>
              </a:defRPr>
            </a:lvl2pPr>
            <a:lvl3pPr marL="638923" indent="444500">
              <a:spcBef>
                <a:spcPts val="0"/>
              </a:spcBef>
              <a:buSzTx/>
              <a:buNone/>
              <a:defRPr spc="-170" sz="8500">
                <a:solidFill>
                  <a:schemeClr val="accent1">
                    <a:hueOff val="114395"/>
                    <a:lumOff val="-24975"/>
                  </a:schemeClr>
                </a:solidFill>
                <a:latin typeface="Helvetica Neue Medium"/>
                <a:ea typeface="Helvetica Neue Medium"/>
                <a:cs typeface="Helvetica Neue Medium"/>
                <a:sym typeface="Helvetica Neue Medium"/>
              </a:defRPr>
            </a:lvl3pPr>
            <a:lvl4pPr marL="638923" indent="901700">
              <a:spcBef>
                <a:spcPts val="0"/>
              </a:spcBef>
              <a:buSzTx/>
              <a:buNone/>
              <a:defRPr spc="-170" sz="8500">
                <a:solidFill>
                  <a:schemeClr val="accent1">
                    <a:hueOff val="114395"/>
                    <a:lumOff val="-24975"/>
                  </a:schemeClr>
                </a:solidFill>
                <a:latin typeface="Helvetica Neue Medium"/>
                <a:ea typeface="Helvetica Neue Medium"/>
                <a:cs typeface="Helvetica Neue Medium"/>
                <a:sym typeface="Helvetica Neue Medium"/>
              </a:defRPr>
            </a:lvl4pPr>
            <a:lvl5pPr marL="638923" indent="1358900">
              <a:spcBef>
                <a:spcPts val="0"/>
              </a:spcBef>
              <a:buSzTx/>
              <a:buNone/>
              <a:defRPr spc="-170" sz="8500">
                <a:solidFill>
                  <a:schemeClr val="accent1">
                    <a:hueOff val="114395"/>
                    <a:lumOff val="-24975"/>
                  </a:schemeClr>
                </a:solidFill>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24" name="Hot-air balloons viewed from below against a blue sky"/>
          <p:cNvSpPr/>
          <p:nvPr>
            <p:ph type="pic" sz="quarter" idx="21"/>
          </p:nvPr>
        </p:nvSpPr>
        <p:spPr>
          <a:xfrm>
            <a:off x="15436504" y="1270000"/>
            <a:ext cx="8167167" cy="5422900"/>
          </a:xfrm>
          <a:prstGeom prst="rect">
            <a:avLst/>
          </a:prstGeom>
        </p:spPr>
        <p:txBody>
          <a:bodyPr lIns="91439" tIns="45719" rIns="91439" bIns="45719">
            <a:noAutofit/>
          </a:bodyPr>
          <a:lstStyle/>
          <a:p>
            <a:pPr/>
          </a:p>
        </p:txBody>
      </p:sp>
      <p:sp>
        <p:nvSpPr>
          <p:cNvPr id="125" name="Close-up of the top of a hot-air balloon viewed from above"/>
          <p:cNvSpPr/>
          <p:nvPr>
            <p:ph type="pic" sz="quarter" idx="22"/>
          </p:nvPr>
        </p:nvSpPr>
        <p:spPr>
          <a:xfrm>
            <a:off x="15461772" y="7085972"/>
            <a:ext cx="8148414" cy="5432276"/>
          </a:xfrm>
          <a:prstGeom prst="rect">
            <a:avLst/>
          </a:prstGeom>
        </p:spPr>
        <p:txBody>
          <a:bodyPr lIns="91439" tIns="45719" rIns="91439" bIns="45719">
            <a:noAutofit/>
          </a:bodyPr>
          <a:lstStyle/>
          <a:p>
            <a:pPr/>
          </a:p>
        </p:txBody>
      </p:sp>
      <p:sp>
        <p:nvSpPr>
          <p:cNvPr id="126" name="Hot-air balloons viewed from below against a blue sky"/>
          <p:cNvSpPr/>
          <p:nvPr>
            <p:ph type="pic" idx="23"/>
          </p:nvPr>
        </p:nvSpPr>
        <p:spPr>
          <a:xfrm>
            <a:off x="-124635" y="1270000"/>
            <a:ext cx="16859219" cy="11239479"/>
          </a:xfrm>
          <a:prstGeom prst="rect">
            <a:avLst/>
          </a:prstGeom>
        </p:spPr>
        <p:txBody>
          <a:bodyPr lIns="91439" tIns="45719" rIns="91439" bIns="45719">
            <a:noAutofit/>
          </a:bodyPr>
          <a:lstStyle/>
          <a:p>
            <a:pPr/>
          </a:p>
        </p:txBody>
      </p:sp>
      <p:sp>
        <p:nvSpPr>
          <p:cNvPr id="12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34" name="Hot-air balloons viewed from below against a blue sky"/>
          <p:cNvSpPr/>
          <p:nvPr>
            <p:ph type="pic" idx="21"/>
          </p:nvPr>
        </p:nvSpPr>
        <p:spPr>
          <a:xfrm>
            <a:off x="0" y="-1270000"/>
            <a:ext cx="24384000" cy="16256000"/>
          </a:xfrm>
          <a:prstGeom prst="rect">
            <a:avLst/>
          </a:prstGeom>
        </p:spPr>
        <p:txBody>
          <a:bodyPr lIns="91439" tIns="45719" rIns="91439" bIns="45719">
            <a:noAutofit/>
          </a:bodyPr>
          <a:lstStyle/>
          <a:p>
            <a:pPr/>
          </a:p>
        </p:txBody>
      </p:sp>
      <p:sp>
        <p:nvSpPr>
          <p:cNvPr id="13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4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952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defTabSz="584200">
              <a:defRPr sz="1800">
                <a:solidFill>
                  <a:srgbClr val="000000"/>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chemeClr val="accent1">
              <a:hueOff val="114395"/>
              <a:lumOff val="-24975"/>
            </a:schemeClr>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chemeClr val="accent1">
              <a:hueOff val="114395"/>
              <a:lumOff val="-24975"/>
            </a:schemeClr>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chemeClr val="accent1">
              <a:hueOff val="114395"/>
              <a:lumOff val="-24975"/>
            </a:schemeClr>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chemeClr val="accent1">
              <a:hueOff val="114395"/>
              <a:lumOff val="-24975"/>
            </a:schemeClr>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chemeClr val="accent1">
              <a:hueOff val="114395"/>
              <a:lumOff val="-24975"/>
            </a:schemeClr>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chemeClr val="accent1">
              <a:hueOff val="114395"/>
              <a:lumOff val="-24975"/>
            </a:schemeClr>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chemeClr val="accent1">
              <a:hueOff val="114395"/>
              <a:lumOff val="-24975"/>
            </a:schemeClr>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chemeClr val="accent1">
              <a:hueOff val="114395"/>
              <a:lumOff val="-24975"/>
            </a:schemeClr>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chemeClr val="accent1">
              <a:hueOff val="114395"/>
              <a:lumOff val="-24975"/>
            </a:schemeClr>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1" name="Cambridge Physics Academy"/>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Cambridge Physics Academy</a:t>
            </a:r>
          </a:p>
        </p:txBody>
      </p:sp>
      <p:sp>
        <p:nvSpPr>
          <p:cNvPr id="152" name="Kinematics II (Week 3)"/>
          <p:cNvSpPr txBox="1"/>
          <p:nvPr>
            <p:ph type="ctrTitle"/>
          </p:nvPr>
        </p:nvSpPr>
        <p:spPr>
          <a:prstGeom prst="rect">
            <a:avLst/>
          </a:prstGeom>
        </p:spPr>
        <p:txBody>
          <a:bodyPr/>
          <a:lstStyle/>
          <a:p>
            <a:pPr/>
            <a:r>
              <a:t>Kinematics II (Week 3)</a:t>
            </a:r>
          </a:p>
        </p:txBody>
      </p:sp>
      <p:sp>
        <p:nvSpPr>
          <p:cNvPr id="153" name="F=ma Course Series"/>
          <p:cNvSpPr txBox="1"/>
          <p:nvPr>
            <p:ph type="subTitle" sz="quarter" idx="1"/>
          </p:nvPr>
        </p:nvSpPr>
        <p:spPr>
          <a:prstGeom prst="rect">
            <a:avLst/>
          </a:prstGeom>
        </p:spPr>
        <p:txBody>
          <a:bodyPr/>
          <a:lstStyle/>
          <a:p>
            <a:pPr/>
            <a:r>
              <a:t>F=ma Course Series</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5" name="Warm up"/>
          <p:cNvSpPr txBox="1"/>
          <p:nvPr>
            <p:ph type="title"/>
          </p:nvPr>
        </p:nvSpPr>
        <p:spPr>
          <a:prstGeom prst="rect">
            <a:avLst/>
          </a:prstGeom>
        </p:spPr>
        <p:txBody>
          <a:bodyPr/>
          <a:lstStyle/>
          <a:p>
            <a:pPr/>
            <a:r>
              <a:t>Warm up</a:t>
            </a:r>
          </a:p>
        </p:txBody>
      </p:sp>
      <p:sp>
        <p:nvSpPr>
          <p:cNvPr id="156" name="Monkey"/>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Monkey</a:t>
            </a:r>
          </a:p>
        </p:txBody>
      </p:sp>
      <p:sp>
        <p:nvSpPr>
          <p:cNvPr id="157" name="The classic monkey problem: An apple hangs from a tree, and a bow and arrow is aimed directly at the apple in the tree. Show that if the apple drops and the bow are fired at the exact same time, the arrow will always hit the apple.…"/>
          <p:cNvSpPr txBox="1"/>
          <p:nvPr>
            <p:ph type="body" idx="1"/>
          </p:nvPr>
        </p:nvSpPr>
        <p:spPr>
          <a:xfrm>
            <a:off x="1206500" y="3783414"/>
            <a:ext cx="21971000" cy="8256012"/>
          </a:xfrm>
          <a:prstGeom prst="rect">
            <a:avLst/>
          </a:prstGeom>
        </p:spPr>
        <p:txBody>
          <a:bodyPr/>
          <a:lstStyle/>
          <a:p>
            <a:pPr/>
            <a:r>
              <a:t>The classic monkey problem: An apple hangs from a tree, and a bow and arrow is aimed directly at the apple in the tree. Show that if the apple drops and the bow are fired at the exact same time, the arrow will always hit the apple.</a:t>
            </a:r>
          </a:p>
          <a:p>
            <a:pPr/>
            <a:r>
              <a:t>(use an accelerated reference frame!)</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9" name="In class today"/>
          <p:cNvSpPr txBox="1"/>
          <p:nvPr>
            <p:ph type="title"/>
          </p:nvPr>
        </p:nvSpPr>
        <p:spPr>
          <a:prstGeom prst="rect">
            <a:avLst/>
          </a:prstGeom>
        </p:spPr>
        <p:txBody>
          <a:bodyPr/>
          <a:lstStyle/>
          <a:p>
            <a:pPr/>
            <a:r>
              <a:t>In class today</a:t>
            </a:r>
          </a:p>
        </p:txBody>
      </p:sp>
      <p:sp>
        <p:nvSpPr>
          <p:cNvPr id="160" name="2-D Kinematics"/>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2-D Kinematics</a:t>
            </a:r>
          </a:p>
        </p:txBody>
      </p:sp>
      <p:sp>
        <p:nvSpPr>
          <p:cNvPr id="161" name="3.1. Projectile motion…"/>
          <p:cNvSpPr txBox="1"/>
          <p:nvPr>
            <p:ph type="body" idx="1"/>
          </p:nvPr>
        </p:nvSpPr>
        <p:spPr>
          <a:prstGeom prst="rect">
            <a:avLst/>
          </a:prstGeom>
        </p:spPr>
        <p:txBody>
          <a:bodyPr/>
          <a:lstStyle/>
          <a:p>
            <a:pPr/>
            <a:r>
              <a:t>3.1. Projectile motion</a:t>
            </a:r>
          </a:p>
          <a:p>
            <a:pPr/>
            <a:r>
              <a:t>3.2. Olympiad kinematics</a:t>
            </a:r>
          </a:p>
          <a:p>
            <a:pPr lvl="1"/>
            <a:r>
              <a:t>3.2.1. Constraints and projections</a:t>
            </a:r>
          </a:p>
          <a:p>
            <a:pPr lvl="1"/>
            <a:r>
              <a:t>3.2.2. Rotated reference frames</a:t>
            </a:r>
          </a:p>
          <a:p>
            <a:pPr lvl="1"/>
            <a:r>
              <a:t>3.2.3. Moving reference frames</a:t>
            </a:r>
          </a:p>
          <a:p>
            <a:pPr lvl="1"/>
            <a:r>
              <a:t>3.2.4. Reflections</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3" name="Idea 3.1:…"/>
          <p:cNvSpPr txBox="1"/>
          <p:nvPr>
            <p:ph type="title"/>
          </p:nvPr>
        </p:nvSpPr>
        <p:spPr>
          <a:xfrm>
            <a:off x="1206500" y="952500"/>
            <a:ext cx="21971000" cy="3260389"/>
          </a:xfrm>
          <a:prstGeom prst="rect">
            <a:avLst/>
          </a:prstGeom>
        </p:spPr>
        <p:txBody>
          <a:bodyPr/>
          <a:lstStyle/>
          <a:p>
            <a:pPr algn="ctr">
              <a:lnSpc>
                <a:spcPct val="100000"/>
              </a:lnSpc>
              <a:defRPr spc="-176" sz="8800"/>
            </a:pPr>
            <a:r>
              <a:t>Idea 3.1:</a:t>
            </a:r>
          </a:p>
          <a:p>
            <a:pPr algn="ctr">
              <a:lnSpc>
                <a:spcPct val="100000"/>
              </a:lnSpc>
              <a:defRPr spc="-176" sz="8800"/>
            </a:pPr>
            <a:r>
              <a:t>Projectile motion</a:t>
            </a:r>
          </a:p>
        </p:txBody>
      </p:sp>
      <p:sp>
        <p:nvSpPr>
          <p:cNvPr id="164" name="y-directional motion often determines how long an object is in the air for…"/>
          <p:cNvSpPr txBox="1"/>
          <p:nvPr>
            <p:ph type="body" sz="half" idx="1"/>
          </p:nvPr>
        </p:nvSpPr>
        <p:spPr>
          <a:xfrm>
            <a:off x="4286725" y="6040173"/>
            <a:ext cx="15810550" cy="6988780"/>
          </a:xfrm>
          <a:prstGeom prst="rect">
            <a:avLst/>
          </a:prstGeom>
        </p:spPr>
        <p:txBody>
          <a:bodyPr/>
          <a:lstStyle/>
          <a:p>
            <a:pPr/>
          </a:p>
          <a:p>
            <a:pPr lvl="1"/>
            <a:r>
              <a:t>y-directional motion often determines how long an object is in the air for</a:t>
            </a:r>
          </a:p>
          <a:p>
            <a:pPr lvl="1"/>
            <a:r>
              <a:t>A projectile experiences no gravitational acceleration in the x-direction</a:t>
            </a:r>
          </a:p>
          <a:p>
            <a:pPr lvl="1"/>
            <a:r>
              <a:t>Combine information in both dimensions to derive the trajectory of the projectile</a:t>
            </a:r>
          </a:p>
        </p:txBody>
      </p:sp>
      <p:sp>
        <p:nvSpPr>
          <p:cNvPr id="165" name="Definition: When a projectile moves through multiple dimensions, its motion in those dimensions can be treated independently"/>
          <p:cNvSpPr txBox="1"/>
          <p:nvPr/>
        </p:nvSpPr>
        <p:spPr>
          <a:xfrm>
            <a:off x="4587089" y="4012722"/>
            <a:ext cx="15209822" cy="25387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nSpc>
                <a:spcPct val="90000"/>
              </a:lnSpc>
              <a:spcBef>
                <a:spcPts val="4500"/>
              </a:spcBef>
              <a:defRPr sz="5800">
                <a:solidFill>
                  <a:schemeClr val="accent1"/>
                </a:solidFill>
              </a:defRPr>
            </a:lvl1pPr>
          </a:lstStyle>
          <a:p>
            <a:pPr/>
            <a:r>
              <a:t>Definition: When a projectile moves through multiple dimensions, its motion in those dimensions can be treated independently</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7" name="Example"/>
          <p:cNvSpPr txBox="1"/>
          <p:nvPr>
            <p:ph type="title"/>
          </p:nvPr>
        </p:nvSpPr>
        <p:spPr>
          <a:prstGeom prst="rect">
            <a:avLst/>
          </a:prstGeom>
        </p:spPr>
        <p:txBody>
          <a:bodyPr/>
          <a:lstStyle/>
          <a:p>
            <a:pPr/>
            <a:r>
              <a:t>Example</a:t>
            </a:r>
          </a:p>
        </p:txBody>
      </p:sp>
      <p:sp>
        <p:nvSpPr>
          <p:cNvPr id="168" name="3.1. Projectile motion"/>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3.1. Projectile motion</a:t>
            </a:r>
          </a:p>
        </p:txBody>
      </p:sp>
      <p:sp>
        <p:nvSpPr>
          <p:cNvPr id="169" name="A ball is thrown from the ground, upward at a speed   and angle   relative to the horizontal. Find the distance the ball travels before it hits the ground."/>
          <p:cNvSpPr txBox="1"/>
          <p:nvPr>
            <p:ph type="body" idx="1"/>
          </p:nvPr>
        </p:nvSpPr>
        <p:spPr>
          <a:xfrm>
            <a:off x="1206500" y="3672678"/>
            <a:ext cx="21971000" cy="8256012"/>
          </a:xfrm>
          <a:prstGeom prst="rect">
            <a:avLst/>
          </a:prstGeom>
        </p:spPr>
        <p:txBody>
          <a:bodyPr/>
          <a:lstStyle/>
          <a:p>
            <a:pPr/>
            <a:r>
              <a:t>A ball is thrown from the ground, upward at a speed </a:t>
            </a:r>
            <a14:m>
              <m:oMath>
                <m:r>
                  <a:rPr xmlns:a="http://schemas.openxmlformats.org/drawingml/2006/main" sz="5750" i="1">
                    <a:solidFill>
                      <a:srgbClr val="000000"/>
                    </a:solidFill>
                    <a:latin typeface="Cambria Math" panose="02040503050406030204" pitchFamily="18" charset="0"/>
                  </a:rPr>
                  <m:t>v</m:t>
                </m:r>
              </m:oMath>
            </a14:m>
            <a:r>
              <a:t> and angle </a:t>
            </a:r>
            <a14:m>
              <m:oMath>
                <m:r>
                  <a:rPr xmlns:a="http://schemas.openxmlformats.org/drawingml/2006/main" sz="5750" i="1">
                    <a:solidFill>
                      <a:srgbClr val="000000"/>
                    </a:solidFill>
                    <a:latin typeface="Cambria Math" panose="02040503050406030204" pitchFamily="18" charset="0"/>
                  </a:rPr>
                  <m:t>θ</m:t>
                </m:r>
              </m:oMath>
            </a14:m>
            <a:r>
              <a:t> relative to the horizontal. Find the distance the ball travels before it hits the ground. </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Problem"/>
          <p:cNvSpPr txBox="1"/>
          <p:nvPr>
            <p:ph type="title"/>
          </p:nvPr>
        </p:nvSpPr>
        <p:spPr>
          <a:prstGeom prst="rect">
            <a:avLst/>
          </a:prstGeom>
        </p:spPr>
        <p:txBody>
          <a:bodyPr/>
          <a:lstStyle/>
          <a:p>
            <a:pPr/>
            <a:r>
              <a:t>Problem</a:t>
            </a:r>
          </a:p>
        </p:txBody>
      </p:sp>
      <p:sp>
        <p:nvSpPr>
          <p:cNvPr id="172" name="3.1. Projectile motion"/>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3.1. Projectile motion</a:t>
            </a:r>
          </a:p>
        </p:txBody>
      </p:sp>
      <p:sp>
        <p:nvSpPr>
          <p:cNvPr id="173" name="A ball is thrown horizontally at speed   off a cliff of height  , where the gravitational acceleration is  . Find the distance the ball travels before it impacts the ground."/>
          <p:cNvSpPr txBox="1"/>
          <p:nvPr>
            <p:ph type="body" idx="1"/>
          </p:nvPr>
        </p:nvSpPr>
        <p:spPr>
          <a:xfrm>
            <a:off x="1206500" y="3783414"/>
            <a:ext cx="21971000" cy="8256012"/>
          </a:xfrm>
          <a:prstGeom prst="rect">
            <a:avLst/>
          </a:prstGeom>
        </p:spPr>
        <p:txBody>
          <a:bodyPr/>
          <a:lstStyle/>
          <a:p>
            <a:pPr/>
            <a:r>
              <a:t>A ball is thrown horizontally at speed </a:t>
            </a:r>
            <a14:m>
              <m:oMath>
                <m:r>
                  <a:rPr xmlns:a="http://schemas.openxmlformats.org/drawingml/2006/main" sz="5750" i="1">
                    <a:solidFill>
                      <a:srgbClr val="000000"/>
                    </a:solidFill>
                    <a:latin typeface="Cambria Math" panose="02040503050406030204" pitchFamily="18" charset="0"/>
                  </a:rPr>
                  <m:t>v</m:t>
                </m:r>
              </m:oMath>
            </a14:m>
            <a:r>
              <a:t> off a cliff of height </a:t>
            </a:r>
            <a14:m>
              <m:oMath>
                <m:r>
                  <a:rPr xmlns:a="http://schemas.openxmlformats.org/drawingml/2006/main" sz="5750" i="1">
                    <a:solidFill>
                      <a:srgbClr val="000000"/>
                    </a:solidFill>
                    <a:latin typeface="Cambria Math" panose="02040503050406030204" pitchFamily="18" charset="0"/>
                  </a:rPr>
                  <m:t>h</m:t>
                </m:r>
              </m:oMath>
            </a14:m>
            <a:r>
              <a:t>, where the gravitational acceleration is </a:t>
            </a:r>
            <a14:m>
              <m:oMath>
                <m:r>
                  <a:rPr xmlns:a="http://schemas.openxmlformats.org/drawingml/2006/main" sz="5750" i="1">
                    <a:solidFill>
                      <a:srgbClr val="000000"/>
                    </a:solidFill>
                    <a:latin typeface="Cambria Math" panose="02040503050406030204" pitchFamily="18" charset="0"/>
                  </a:rPr>
                  <m:t>g</m:t>
                </m:r>
              </m:oMath>
            </a14:m>
            <a:r>
              <a:t>. Find the distance the ball travels before it impacts the ground.</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 name="Solution"/>
          <p:cNvSpPr txBox="1"/>
          <p:nvPr>
            <p:ph type="title"/>
          </p:nvPr>
        </p:nvSpPr>
        <p:spPr>
          <a:prstGeom prst="rect">
            <a:avLst/>
          </a:prstGeom>
        </p:spPr>
        <p:txBody>
          <a:bodyPr/>
          <a:lstStyle/>
          <a:p>
            <a:pPr/>
            <a:r>
              <a:t>Solution</a:t>
            </a:r>
          </a:p>
        </p:txBody>
      </p:sp>
      <p:sp>
        <p:nvSpPr>
          <p:cNvPr id="176" name="3.1. Projectile motion"/>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3.1. Projectile motion</a:t>
            </a:r>
          </a:p>
        </p:txBody>
      </p:sp>
      <p:sp>
        <p:nvSpPr>
          <p:cNvPr id="177" name="Equation"/>
          <p:cNvSpPr txBox="1"/>
          <p:nvPr/>
        </p:nvSpPr>
        <p:spPr>
          <a:xfrm>
            <a:off x="20916000" y="11285764"/>
            <a:ext cx="2483594" cy="1718311"/>
          </a:xfrm>
          <a:prstGeom prst="rect">
            <a:avLst/>
          </a:prstGeom>
          <a:ln w="12700">
            <a:miter lim="400000"/>
          </a:ln>
        </p:spPr>
        <p:txBody>
          <a:bodyPr wrap="none" lIns="0" tIns="0" rIns="0" bIns="0">
            <a:spAutoFit/>
          </a:bodyPr>
          <a:lstStyle/>
          <a:p>
            <a:pPr algn="l" defTabSz="914400" latinLnBrk="1">
              <a:defRPr sz="1800">
                <a:solidFill>
                  <a:srgbClr val="000000"/>
                </a:solidFill>
              </a:defRPr>
            </a:pPr>
            <a14:m>
              <m:oMathPara>
                <m:oMathParaPr>
                  <m:jc m:val="centerGroup"/>
                </m:oMathParaPr>
                <m:oMath>
                  <m:r>
                    <a:rPr xmlns:a="http://schemas.openxmlformats.org/drawingml/2006/main" sz="4400" i="1">
                      <a:solidFill>
                        <a:srgbClr val="F80009"/>
                      </a:solidFill>
                      <a:latin typeface="Cambria Math" panose="02040503050406030204" pitchFamily="18" charset="0"/>
                    </a:rPr>
                    <m:t>d</m:t>
                  </m:r>
                  <m:r>
                    <a:rPr xmlns:a="http://schemas.openxmlformats.org/drawingml/2006/main" sz="4400" i="1">
                      <a:solidFill>
                        <a:srgbClr val="F80009"/>
                      </a:solidFill>
                      <a:latin typeface="Cambria Math" panose="02040503050406030204" pitchFamily="18" charset="0"/>
                    </a:rPr>
                    <m:t>=</m:t>
                  </m:r>
                  <m:r>
                    <a:rPr xmlns:a="http://schemas.openxmlformats.org/drawingml/2006/main" sz="4400" i="1">
                      <a:solidFill>
                        <a:srgbClr val="F80009"/>
                      </a:solidFill>
                      <a:latin typeface="Cambria Math" panose="02040503050406030204" pitchFamily="18" charset="0"/>
                    </a:rPr>
                    <m:t>v</m:t>
                  </m:r>
                  <m:rad>
                    <m:radPr>
                      <m:ctrlPr>
                        <a:rPr xmlns:a="http://schemas.openxmlformats.org/drawingml/2006/main" sz="4400" i="1">
                          <a:solidFill>
                            <a:srgbClr val="F80009"/>
                          </a:solidFill>
                          <a:latin typeface="Cambria Math" panose="02040503050406030204" pitchFamily="18" charset="0"/>
                        </a:rPr>
                      </m:ctrlPr>
                      <m:degHide m:val="on"/>
                    </m:radPr>
                    <m:deg/>
                    <m:e>
                      <m:f>
                        <m:fPr>
                          <m:ctrlPr>
                            <a:rPr xmlns:a="http://schemas.openxmlformats.org/drawingml/2006/main" sz="4400" i="1">
                              <a:solidFill>
                                <a:srgbClr val="F80009"/>
                              </a:solidFill>
                              <a:latin typeface="Cambria Math" panose="02040503050406030204" pitchFamily="18" charset="0"/>
                            </a:rPr>
                          </m:ctrlPr>
                          <m:type m:val="bar"/>
                        </m:fPr>
                        <m:num>
                          <m:r>
                            <a:rPr xmlns:a="http://schemas.openxmlformats.org/drawingml/2006/main" sz="4400" i="1">
                              <a:solidFill>
                                <a:srgbClr val="F80009"/>
                              </a:solidFill>
                              <a:latin typeface="Cambria Math" panose="02040503050406030204" pitchFamily="18" charset="0"/>
                            </a:rPr>
                            <m:t>2</m:t>
                          </m:r>
                          <m:r>
                            <a:rPr xmlns:a="http://schemas.openxmlformats.org/drawingml/2006/main" sz="4400" i="1">
                              <a:solidFill>
                                <a:srgbClr val="F80009"/>
                              </a:solidFill>
                              <a:latin typeface="Cambria Math" panose="02040503050406030204" pitchFamily="18" charset="0"/>
                            </a:rPr>
                            <m:t>d</m:t>
                          </m:r>
                        </m:num>
                        <m:den>
                          <m:r>
                            <a:rPr xmlns:a="http://schemas.openxmlformats.org/drawingml/2006/main" sz="4400" i="1">
                              <a:solidFill>
                                <a:srgbClr val="F80009"/>
                              </a:solidFill>
                              <a:latin typeface="Cambria Math" panose="02040503050406030204" pitchFamily="18" charset="0"/>
                            </a:rPr>
                            <m:t>g</m:t>
                          </m:r>
                        </m:den>
                      </m:f>
                    </m:e>
                  </m:rad>
                </m:oMath>
              </m:oMathPara>
            </a14:m>
            <a:endParaRPr sz="4400">
              <a:solidFill>
                <a:srgbClr val="F80009"/>
              </a:solidFill>
            </a:endParaRPr>
          </a:p>
        </p:txBody>
      </p:sp>
      <p:sp>
        <p:nvSpPr>
          <p:cNvPr id="178" name="A ball is thrown horizontally at speed   off a cliff of height  , where the gravitational acceleration is  . Find the distance the ball travels before it impacts the ground."/>
          <p:cNvSpPr txBox="1"/>
          <p:nvPr>
            <p:ph type="body" idx="1"/>
          </p:nvPr>
        </p:nvSpPr>
        <p:spPr>
          <a:xfrm>
            <a:off x="1206500" y="3783414"/>
            <a:ext cx="21971000" cy="8256012"/>
          </a:xfrm>
          <a:prstGeom prst="rect">
            <a:avLst/>
          </a:prstGeom>
        </p:spPr>
        <p:txBody>
          <a:bodyPr/>
          <a:lstStyle/>
          <a:p>
            <a:pPr marL="609599" indent="-609599">
              <a:defRPr sz="3500"/>
            </a:pPr>
            <a:r>
              <a:t>A ball is thrown horizontally at speed </a:t>
            </a:r>
            <a14:m>
              <m:oMath>
                <m:r>
                  <a:rPr xmlns:a="http://schemas.openxmlformats.org/drawingml/2006/main" sz="4200" i="1">
                    <a:solidFill>
                      <a:srgbClr val="000000"/>
                    </a:solidFill>
                    <a:latin typeface="Cambria Math" panose="02040503050406030204" pitchFamily="18" charset="0"/>
                  </a:rPr>
                  <m:t>v</m:t>
                </m:r>
              </m:oMath>
            </a14:m>
            <a:r>
              <a:t> off a cliff of height </a:t>
            </a:r>
            <a14:m>
              <m:oMath>
                <m:r>
                  <a:rPr xmlns:a="http://schemas.openxmlformats.org/drawingml/2006/main" sz="4200" i="1">
                    <a:solidFill>
                      <a:srgbClr val="000000"/>
                    </a:solidFill>
                    <a:latin typeface="Cambria Math" panose="02040503050406030204" pitchFamily="18" charset="0"/>
                  </a:rPr>
                  <m:t>h</m:t>
                </m:r>
              </m:oMath>
            </a14:m>
            <a:r>
              <a:t>, where the gravitational acceleration is </a:t>
            </a:r>
            <a14:m>
              <m:oMath>
                <m:r>
                  <a:rPr xmlns:a="http://schemas.openxmlformats.org/drawingml/2006/main" sz="4200" i="1">
                    <a:solidFill>
                      <a:srgbClr val="000000"/>
                    </a:solidFill>
                    <a:latin typeface="Cambria Math" panose="02040503050406030204" pitchFamily="18" charset="0"/>
                  </a:rPr>
                  <m:t>g</m:t>
                </m:r>
              </m:oMath>
            </a14:m>
            <a:r>
              <a:t>. Find the distance the ball travels before it impacts the ground.</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0" name="Problem"/>
          <p:cNvSpPr txBox="1"/>
          <p:nvPr>
            <p:ph type="title"/>
          </p:nvPr>
        </p:nvSpPr>
        <p:spPr>
          <a:prstGeom prst="rect">
            <a:avLst/>
          </a:prstGeom>
        </p:spPr>
        <p:txBody>
          <a:bodyPr/>
          <a:lstStyle/>
          <a:p>
            <a:pPr/>
            <a:r>
              <a:t>Problem</a:t>
            </a:r>
          </a:p>
        </p:txBody>
      </p:sp>
      <p:sp>
        <p:nvSpPr>
          <p:cNvPr id="181" name="3.1. Projectile motion"/>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3.1. Projectile motion</a:t>
            </a:r>
          </a:p>
        </p:txBody>
      </p:sp>
      <p:sp>
        <p:nvSpPr>
          <p:cNvPr id="182" name="A bow and arrow is aimed directly at an apple hanging in a tree at height   above the ground and horizontal distance   from the bow. The instant the apple falls from the tree, the arrow is released. Find the minimal starting speed the arrow needs in orde"/>
          <p:cNvSpPr txBox="1"/>
          <p:nvPr>
            <p:ph type="body" idx="1"/>
          </p:nvPr>
        </p:nvSpPr>
        <p:spPr>
          <a:xfrm>
            <a:off x="1206500" y="3783414"/>
            <a:ext cx="21971000" cy="8256012"/>
          </a:xfrm>
          <a:prstGeom prst="rect">
            <a:avLst/>
          </a:prstGeom>
        </p:spPr>
        <p:txBody>
          <a:bodyPr/>
          <a:lstStyle/>
          <a:p>
            <a:pPr/>
            <a:r>
              <a:t>A bow and arrow is aimed directly at an apple hanging in a tree at height </a:t>
            </a:r>
            <a14:m>
              <m:oMath>
                <m:r>
                  <a:rPr xmlns:a="http://schemas.openxmlformats.org/drawingml/2006/main" sz="5750" i="1">
                    <a:solidFill>
                      <a:srgbClr val="000000"/>
                    </a:solidFill>
                    <a:latin typeface="Cambria Math" panose="02040503050406030204" pitchFamily="18" charset="0"/>
                  </a:rPr>
                  <m:t>h</m:t>
                </m:r>
              </m:oMath>
            </a14:m>
            <a:r>
              <a:t> above the ground and horizontal distance </a:t>
            </a:r>
            <a14:m>
              <m:oMath>
                <m:r>
                  <a:rPr xmlns:a="http://schemas.openxmlformats.org/drawingml/2006/main" sz="5750" i="1">
                    <a:solidFill>
                      <a:srgbClr val="000000"/>
                    </a:solidFill>
                    <a:latin typeface="Cambria Math" panose="02040503050406030204" pitchFamily="18" charset="0"/>
                  </a:rPr>
                  <m:t>D</m:t>
                </m:r>
                <m:r>
                  <a:rPr xmlns:a="http://schemas.openxmlformats.org/drawingml/2006/main" sz="5750" i="1">
                    <a:solidFill>
                      <a:srgbClr val="000000"/>
                    </a:solidFill>
                    <a:latin typeface="Cambria Math" panose="02040503050406030204" pitchFamily="18" charset="0"/>
                  </a:rPr>
                  <m:t>≫</m:t>
                </m:r>
                <m:r>
                  <a:rPr xmlns:a="http://schemas.openxmlformats.org/drawingml/2006/main" sz="5750" i="1">
                    <a:solidFill>
                      <a:srgbClr val="000000"/>
                    </a:solidFill>
                    <a:latin typeface="Cambria Math" panose="02040503050406030204" pitchFamily="18" charset="0"/>
                  </a:rPr>
                  <m:t>h</m:t>
                </m:r>
              </m:oMath>
            </a14:m>
            <a:r>
              <a:t> from the bow. The instant the apple falls from the tree, the arrow is released. Find the minimal starting speed the arrow needs in order to hit the apple while it is still falling in the air. </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4" name="Solution"/>
          <p:cNvSpPr txBox="1"/>
          <p:nvPr>
            <p:ph type="title"/>
          </p:nvPr>
        </p:nvSpPr>
        <p:spPr>
          <a:prstGeom prst="rect">
            <a:avLst/>
          </a:prstGeom>
        </p:spPr>
        <p:txBody>
          <a:bodyPr/>
          <a:lstStyle/>
          <a:p>
            <a:pPr/>
            <a:r>
              <a:t>Solution</a:t>
            </a:r>
          </a:p>
        </p:txBody>
      </p:sp>
      <p:sp>
        <p:nvSpPr>
          <p:cNvPr id="185" name="3.1. Projectile motion"/>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3.1. Projectile motion</a:t>
            </a:r>
          </a:p>
        </p:txBody>
      </p:sp>
      <p:sp>
        <p:nvSpPr>
          <p:cNvPr id="186" name="Equation"/>
          <p:cNvSpPr txBox="1"/>
          <p:nvPr/>
        </p:nvSpPr>
        <p:spPr>
          <a:xfrm>
            <a:off x="21048884" y="11418647"/>
            <a:ext cx="2537543" cy="1718311"/>
          </a:xfrm>
          <a:prstGeom prst="rect">
            <a:avLst/>
          </a:prstGeom>
          <a:ln w="12700">
            <a:miter lim="400000"/>
          </a:ln>
        </p:spPr>
        <p:txBody>
          <a:bodyPr wrap="none" lIns="0" tIns="0" rIns="0" bIns="0">
            <a:spAutoFit/>
          </a:bodyPr>
          <a:lstStyle/>
          <a:p>
            <a:pPr algn="l" defTabSz="914400" latinLnBrk="1">
              <a:defRPr sz="1800">
                <a:solidFill>
                  <a:srgbClr val="000000"/>
                </a:solidFill>
              </a:defRPr>
            </a:pPr>
            <a14:m>
              <m:oMathPara>
                <m:oMathParaPr>
                  <m:jc m:val="centerGroup"/>
                </m:oMathParaPr>
                <m:oMath>
                  <m:r>
                    <a:rPr xmlns:a="http://schemas.openxmlformats.org/drawingml/2006/main" sz="4400" i="1">
                      <a:solidFill>
                        <a:srgbClr val="F80009"/>
                      </a:solidFill>
                      <a:latin typeface="Cambria Math" panose="02040503050406030204" pitchFamily="18" charset="0"/>
                    </a:rPr>
                    <m:t>v</m:t>
                  </m:r>
                  <m:r>
                    <a:rPr xmlns:a="http://schemas.openxmlformats.org/drawingml/2006/main" sz="4400" i="1">
                      <a:solidFill>
                        <a:srgbClr val="F80009"/>
                      </a:solidFill>
                      <a:latin typeface="Cambria Math" panose="02040503050406030204" pitchFamily="18" charset="0"/>
                    </a:rPr>
                    <m:t>=</m:t>
                  </m:r>
                  <m:rad>
                    <m:radPr>
                      <m:ctrlPr>
                        <a:rPr xmlns:a="http://schemas.openxmlformats.org/drawingml/2006/main" sz="4400" i="1">
                          <a:solidFill>
                            <a:srgbClr val="F80009"/>
                          </a:solidFill>
                          <a:latin typeface="Cambria Math" panose="02040503050406030204" pitchFamily="18" charset="0"/>
                        </a:rPr>
                      </m:ctrlPr>
                      <m:degHide m:val="on"/>
                    </m:radPr>
                    <m:deg/>
                    <m:e>
                      <m:f>
                        <m:fPr>
                          <m:ctrlPr>
                            <a:rPr xmlns:a="http://schemas.openxmlformats.org/drawingml/2006/main" sz="4400" i="1">
                              <a:solidFill>
                                <a:srgbClr val="F80009"/>
                              </a:solidFill>
                              <a:latin typeface="Cambria Math" panose="02040503050406030204" pitchFamily="18" charset="0"/>
                            </a:rPr>
                          </m:ctrlPr>
                          <m:type m:val="bar"/>
                        </m:fPr>
                        <m:num>
                          <m:r>
                            <a:rPr xmlns:a="http://schemas.openxmlformats.org/drawingml/2006/main" sz="4400" i="1">
                              <a:solidFill>
                                <a:srgbClr val="F80009"/>
                              </a:solidFill>
                              <a:latin typeface="Cambria Math" panose="02040503050406030204" pitchFamily="18" charset="0"/>
                            </a:rPr>
                            <m:t>g</m:t>
                          </m:r>
                          <m:sSup>
                            <m:e>
                              <m:r>
                                <a:rPr xmlns:a="http://schemas.openxmlformats.org/drawingml/2006/main" sz="4400" i="1">
                                  <a:solidFill>
                                    <a:srgbClr val="F80009"/>
                                  </a:solidFill>
                                  <a:latin typeface="Cambria Math" panose="02040503050406030204" pitchFamily="18" charset="0"/>
                                </a:rPr>
                                <m:t>D</m:t>
                              </m:r>
                            </m:e>
                            <m:sup>
                              <m:r>
                                <a:rPr xmlns:a="http://schemas.openxmlformats.org/drawingml/2006/main" sz="4400" i="1">
                                  <a:solidFill>
                                    <a:srgbClr val="F80009"/>
                                  </a:solidFill>
                                  <a:latin typeface="Cambria Math" panose="02040503050406030204" pitchFamily="18" charset="0"/>
                                </a:rPr>
                                <m:t>2</m:t>
                              </m:r>
                            </m:sup>
                          </m:sSup>
                        </m:num>
                        <m:den>
                          <m:r>
                            <a:rPr xmlns:a="http://schemas.openxmlformats.org/drawingml/2006/main" sz="4400" i="1">
                              <a:solidFill>
                                <a:srgbClr val="F80009"/>
                              </a:solidFill>
                              <a:latin typeface="Cambria Math" panose="02040503050406030204" pitchFamily="18" charset="0"/>
                            </a:rPr>
                            <m:t>2</m:t>
                          </m:r>
                          <m:r>
                            <a:rPr xmlns:a="http://schemas.openxmlformats.org/drawingml/2006/main" sz="4400" i="1">
                              <a:solidFill>
                                <a:srgbClr val="F80009"/>
                              </a:solidFill>
                              <a:latin typeface="Cambria Math" panose="02040503050406030204" pitchFamily="18" charset="0"/>
                            </a:rPr>
                            <m:t>h</m:t>
                          </m:r>
                        </m:den>
                      </m:f>
                    </m:e>
                  </m:rad>
                </m:oMath>
              </m:oMathPara>
            </a14:m>
            <a:endParaRPr sz="4400">
              <a:solidFill>
                <a:srgbClr val="F80009"/>
              </a:solidFill>
            </a:endParaRPr>
          </a:p>
        </p:txBody>
      </p:sp>
      <p:sp>
        <p:nvSpPr>
          <p:cNvPr id="187" name="A bow and arrow is aimed directly at an apple hanging in a tree at height   above the ground and horizontal distance   from the bow. The instant the apple falls from the tree, the arrow is released. Find the minimal starting speed the arrow needs in orde"/>
          <p:cNvSpPr txBox="1"/>
          <p:nvPr>
            <p:ph type="body" idx="1"/>
          </p:nvPr>
        </p:nvSpPr>
        <p:spPr>
          <a:xfrm>
            <a:off x="1206500" y="3783414"/>
            <a:ext cx="21971000" cy="8256012"/>
          </a:xfrm>
          <a:prstGeom prst="rect">
            <a:avLst/>
          </a:prstGeom>
        </p:spPr>
        <p:txBody>
          <a:bodyPr/>
          <a:lstStyle/>
          <a:p>
            <a:pPr marL="609599" indent="-609599">
              <a:defRPr sz="3500"/>
            </a:pPr>
            <a:r>
              <a:t>A bow and arrow is aimed directly at an apple hanging in a tree at height </a:t>
            </a:r>
            <a14:m>
              <m:oMath>
                <m:r>
                  <a:rPr xmlns:a="http://schemas.openxmlformats.org/drawingml/2006/main" sz="4200" i="1">
                    <a:solidFill>
                      <a:srgbClr val="000000"/>
                    </a:solidFill>
                    <a:latin typeface="Cambria Math" panose="02040503050406030204" pitchFamily="18" charset="0"/>
                  </a:rPr>
                  <m:t>h</m:t>
                </m:r>
              </m:oMath>
            </a14:m>
            <a:r>
              <a:t> above the ground and horizontal distance </a:t>
            </a:r>
            <a14:m>
              <m:oMath>
                <m:r>
                  <a:rPr xmlns:a="http://schemas.openxmlformats.org/drawingml/2006/main" sz="4200" i="1">
                    <a:solidFill>
                      <a:srgbClr val="000000"/>
                    </a:solidFill>
                    <a:latin typeface="Cambria Math" panose="02040503050406030204" pitchFamily="18" charset="0"/>
                  </a:rPr>
                  <m:t>D</m:t>
                </m:r>
              </m:oMath>
            </a14:m>
            <a:r>
              <a:t> from the bow. The instant the apple falls from the tree, the arrow is released. Find the minimal starting speed the arrow needs in order to hit the apple while it is still falling in the air. </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9" name="Idea 3.2:…"/>
          <p:cNvSpPr txBox="1"/>
          <p:nvPr>
            <p:ph type="title"/>
          </p:nvPr>
        </p:nvSpPr>
        <p:spPr>
          <a:xfrm>
            <a:off x="1206500" y="952500"/>
            <a:ext cx="21971000" cy="3260389"/>
          </a:xfrm>
          <a:prstGeom prst="rect">
            <a:avLst/>
          </a:prstGeom>
        </p:spPr>
        <p:txBody>
          <a:bodyPr/>
          <a:lstStyle/>
          <a:p>
            <a:pPr algn="ctr">
              <a:lnSpc>
                <a:spcPct val="100000"/>
              </a:lnSpc>
              <a:defRPr spc="-176" sz="8800"/>
            </a:pPr>
            <a:r>
              <a:t>Idea 3.2:</a:t>
            </a:r>
          </a:p>
          <a:p>
            <a:pPr algn="ctr">
              <a:lnSpc>
                <a:spcPct val="100000"/>
              </a:lnSpc>
              <a:defRPr spc="-176" sz="8800"/>
            </a:pPr>
            <a:r>
              <a:t>Olympiad kinematics</a:t>
            </a:r>
          </a:p>
        </p:txBody>
      </p:sp>
      <p:sp>
        <p:nvSpPr>
          <p:cNvPr id="190" name="3.2.1: Constraints and projections…"/>
          <p:cNvSpPr txBox="1"/>
          <p:nvPr>
            <p:ph type="body" sz="half" idx="1"/>
          </p:nvPr>
        </p:nvSpPr>
        <p:spPr>
          <a:xfrm>
            <a:off x="6855793" y="6351297"/>
            <a:ext cx="15810550" cy="6988780"/>
          </a:xfrm>
          <a:prstGeom prst="rect">
            <a:avLst/>
          </a:prstGeom>
        </p:spPr>
        <p:txBody>
          <a:bodyPr/>
          <a:lstStyle/>
          <a:p>
            <a:pPr/>
          </a:p>
          <a:p>
            <a:pPr lvl="1"/>
            <a:r>
              <a:t>3.2.1: Constraints and projections</a:t>
            </a:r>
          </a:p>
          <a:p>
            <a:pPr lvl="1"/>
            <a:r>
              <a:t>3.2.2: Rotated reference frames</a:t>
            </a:r>
          </a:p>
          <a:p>
            <a:pPr lvl="1"/>
            <a:r>
              <a:t>3.2.3: Moving reference frames</a:t>
            </a:r>
          </a:p>
          <a:p>
            <a:pPr lvl="1"/>
            <a:r>
              <a:t>3.2.4: Reflections</a:t>
            </a:r>
          </a:p>
        </p:txBody>
      </p:sp>
      <p:sp>
        <p:nvSpPr>
          <p:cNvPr id="191" name="Definition: There are some common tricks that show up in olympiad problems"/>
          <p:cNvSpPr txBox="1"/>
          <p:nvPr/>
        </p:nvSpPr>
        <p:spPr>
          <a:xfrm>
            <a:off x="4587089" y="4408088"/>
            <a:ext cx="15209822" cy="174800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nSpc>
                <a:spcPct val="90000"/>
              </a:lnSpc>
              <a:spcBef>
                <a:spcPts val="4500"/>
              </a:spcBef>
              <a:defRPr sz="5800">
                <a:solidFill>
                  <a:schemeClr val="accent1"/>
                </a:solidFill>
              </a:defRPr>
            </a:lvl1pPr>
          </a:lstStyle>
          <a:p>
            <a:pPr/>
            <a:r>
              <a:t>Definition: There are some common tricks that show up in olympiad problems</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3" name="Example"/>
          <p:cNvSpPr txBox="1"/>
          <p:nvPr>
            <p:ph type="title"/>
          </p:nvPr>
        </p:nvSpPr>
        <p:spPr>
          <a:prstGeom prst="rect">
            <a:avLst/>
          </a:prstGeom>
        </p:spPr>
        <p:txBody>
          <a:bodyPr/>
          <a:lstStyle/>
          <a:p>
            <a:pPr/>
            <a:r>
              <a:t>Example</a:t>
            </a:r>
          </a:p>
        </p:txBody>
      </p:sp>
      <p:sp>
        <p:nvSpPr>
          <p:cNvPr id="194" name="3.2.1. Constraints and projections"/>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3.2.1. Constraints and projections</a:t>
            </a:r>
          </a:p>
        </p:txBody>
      </p:sp>
      <p:sp>
        <p:nvSpPr>
          <p:cNvPr id="195" name="A contraption made of four sticks is made with dimensions as shown (in meters). The sticks are connected by joints upon which they can freely rotate. One end of the contraption is attached to the wall and the other is pulled at a speed as shown. What is "/>
          <p:cNvSpPr txBox="1"/>
          <p:nvPr>
            <p:ph type="body" idx="1"/>
          </p:nvPr>
        </p:nvSpPr>
        <p:spPr>
          <a:xfrm>
            <a:off x="1206500" y="3672678"/>
            <a:ext cx="21971000" cy="8256012"/>
          </a:xfrm>
          <a:prstGeom prst="rect">
            <a:avLst/>
          </a:prstGeom>
        </p:spPr>
        <p:txBody>
          <a:bodyPr/>
          <a:lstStyle/>
          <a:p>
            <a:pPr/>
            <a:r>
              <a:t>A contraption made of four sticks is made with dimensions as shown (in meters). The sticks are connected by joints upon which they can freely rotate. One end of the contraption is attached to the wall and the other is pulled at a speed as shown. What is the speed of the indicated joint at the given moment?</a:t>
            </a:r>
          </a:p>
        </p:txBody>
      </p:sp>
      <p:pic>
        <p:nvPicPr>
          <p:cNvPr id="196" name="Screenshot 2023-09-21 at 3.43.04 PM.png" descr="Screenshot 2023-09-21 at 3.43.04 PM.png"/>
          <p:cNvPicPr>
            <a:picLocks noChangeAspect="1"/>
          </p:cNvPicPr>
          <p:nvPr/>
        </p:nvPicPr>
        <p:blipFill>
          <a:blip r:embed="rId2">
            <a:extLst/>
          </a:blip>
          <a:stretch>
            <a:fillRect/>
          </a:stretch>
        </p:blipFill>
        <p:spPr>
          <a:xfrm>
            <a:off x="1361902" y="7194153"/>
            <a:ext cx="8460501" cy="5877608"/>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8" name="Problem"/>
          <p:cNvSpPr txBox="1"/>
          <p:nvPr>
            <p:ph type="title"/>
          </p:nvPr>
        </p:nvSpPr>
        <p:spPr>
          <a:prstGeom prst="rect">
            <a:avLst/>
          </a:prstGeom>
        </p:spPr>
        <p:txBody>
          <a:bodyPr/>
          <a:lstStyle/>
          <a:p>
            <a:pPr/>
            <a:r>
              <a:t>Problem</a:t>
            </a:r>
          </a:p>
        </p:txBody>
      </p:sp>
      <p:sp>
        <p:nvSpPr>
          <p:cNvPr id="199" name="3.2.1. Constraints and projections"/>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3.2.1. Constraints and projections</a:t>
            </a:r>
          </a:p>
        </p:txBody>
      </p:sp>
      <p:sp>
        <p:nvSpPr>
          <p:cNvPr id="200" name="A cannon system is used to shoot a projectile to the right. An infinitely heavy wedge is dropped from a high altitude on a solid block as shown. On impact, the wedge moves at a terminal velocity  . Find the speed   of the block in terms of   and  ."/>
          <p:cNvSpPr txBox="1"/>
          <p:nvPr>
            <p:ph type="body" idx="1"/>
          </p:nvPr>
        </p:nvSpPr>
        <p:spPr>
          <a:xfrm>
            <a:off x="1206500" y="3783414"/>
            <a:ext cx="21971000" cy="8256012"/>
          </a:xfrm>
          <a:prstGeom prst="rect">
            <a:avLst/>
          </a:prstGeom>
        </p:spPr>
        <p:txBody>
          <a:bodyPr/>
          <a:lstStyle/>
          <a:p>
            <a:pPr/>
            <a:r>
              <a:t>A cannon system is used to shoot a projectile to the right. An infinitely heavy wedge is dropped from a high altitude on a solid block as shown. On impact, the wedge moves at a terminal velocity </a:t>
            </a:r>
            <a14:m>
              <m:oMath>
                <m:sSub>
                  <m:e>
                    <m:r>
                      <a:rPr xmlns:a="http://schemas.openxmlformats.org/drawingml/2006/main" sz="5750" i="1">
                        <a:solidFill>
                          <a:srgbClr val="000000"/>
                        </a:solidFill>
                        <a:latin typeface="Cambria Math" panose="02040503050406030204" pitchFamily="18" charset="0"/>
                      </a:rPr>
                      <m:t>v</m:t>
                    </m:r>
                  </m:e>
                  <m:sub>
                    <m:r>
                      <a:rPr xmlns:a="http://schemas.openxmlformats.org/drawingml/2006/main" sz="5750" i="1">
                        <a:solidFill>
                          <a:srgbClr val="000000"/>
                        </a:solidFill>
                        <a:latin typeface="Cambria Math" panose="02040503050406030204" pitchFamily="18" charset="0"/>
                      </a:rPr>
                      <m:t>0</m:t>
                    </m:r>
                  </m:sub>
                </m:sSub>
              </m:oMath>
            </a14:m>
            <a:r>
              <a:t>. Find the speed </a:t>
            </a:r>
            <a14:m>
              <m:oMath>
                <m:r>
                  <a:rPr xmlns:a="http://schemas.openxmlformats.org/drawingml/2006/main" sz="5750" i="1">
                    <a:solidFill>
                      <a:srgbClr val="000000"/>
                    </a:solidFill>
                    <a:latin typeface="Cambria Math" panose="02040503050406030204" pitchFamily="18" charset="0"/>
                  </a:rPr>
                  <m:t>u</m:t>
                </m:r>
              </m:oMath>
            </a14:m>
            <a:r>
              <a:t> of the block in terms of </a:t>
            </a:r>
            <a14:m>
              <m:oMath>
                <m:sSub>
                  <m:e>
                    <m:r>
                      <a:rPr xmlns:a="http://schemas.openxmlformats.org/drawingml/2006/main" sz="5750" i="1">
                        <a:solidFill>
                          <a:srgbClr val="000000"/>
                        </a:solidFill>
                        <a:latin typeface="Cambria Math" panose="02040503050406030204" pitchFamily="18" charset="0"/>
                      </a:rPr>
                      <m:t>v</m:t>
                    </m:r>
                  </m:e>
                  <m:sub>
                    <m:r>
                      <a:rPr xmlns:a="http://schemas.openxmlformats.org/drawingml/2006/main" sz="5750" i="1">
                        <a:solidFill>
                          <a:srgbClr val="000000"/>
                        </a:solidFill>
                        <a:latin typeface="Cambria Math" panose="02040503050406030204" pitchFamily="18" charset="0"/>
                      </a:rPr>
                      <m:t>0</m:t>
                    </m:r>
                  </m:sub>
                </m:sSub>
              </m:oMath>
            </a14:m>
            <a:r>
              <a:t> and </a:t>
            </a:r>
            <a14:m>
              <m:oMath>
                <m:r>
                  <a:rPr xmlns:a="http://schemas.openxmlformats.org/drawingml/2006/main" sz="5750" i="1">
                    <a:solidFill>
                      <a:srgbClr val="000000"/>
                    </a:solidFill>
                    <a:latin typeface="Cambria Math" panose="02040503050406030204" pitchFamily="18" charset="0"/>
                  </a:rPr>
                  <m:t>θ</m:t>
                </m:r>
              </m:oMath>
            </a14:m>
            <a:r>
              <a:t>.</a:t>
            </a:r>
          </a:p>
        </p:txBody>
      </p:sp>
      <p:pic>
        <p:nvPicPr>
          <p:cNvPr id="201" name="Screenshot 2023-09-22 at 12.18.48 AM.png" descr="Screenshot 2023-09-22 at 12.18.48 AM.png"/>
          <p:cNvPicPr>
            <a:picLocks noChangeAspect="1"/>
          </p:cNvPicPr>
          <p:nvPr/>
        </p:nvPicPr>
        <p:blipFill>
          <a:blip r:embed="rId2">
            <a:extLst/>
          </a:blip>
          <a:stretch>
            <a:fillRect/>
          </a:stretch>
        </p:blipFill>
        <p:spPr>
          <a:xfrm>
            <a:off x="9218314" y="7100508"/>
            <a:ext cx="6826003" cy="5883132"/>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3" name="Solution"/>
          <p:cNvSpPr txBox="1"/>
          <p:nvPr>
            <p:ph type="title"/>
          </p:nvPr>
        </p:nvSpPr>
        <p:spPr>
          <a:prstGeom prst="rect">
            <a:avLst/>
          </a:prstGeom>
        </p:spPr>
        <p:txBody>
          <a:bodyPr/>
          <a:lstStyle/>
          <a:p>
            <a:pPr/>
            <a:r>
              <a:t>Solution</a:t>
            </a:r>
          </a:p>
        </p:txBody>
      </p:sp>
      <p:sp>
        <p:nvSpPr>
          <p:cNvPr id="204" name="3.2.1. Constraints and projections"/>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3.2.1. Constraints and projections</a:t>
            </a:r>
          </a:p>
        </p:txBody>
      </p:sp>
      <p:sp>
        <p:nvSpPr>
          <p:cNvPr id="205" name="Equation"/>
          <p:cNvSpPr txBox="1"/>
          <p:nvPr/>
        </p:nvSpPr>
        <p:spPr>
          <a:xfrm>
            <a:off x="20229441" y="11507235"/>
            <a:ext cx="3265585" cy="1544080"/>
          </a:xfrm>
          <a:prstGeom prst="rect">
            <a:avLst/>
          </a:prstGeom>
          <a:ln w="12700">
            <a:miter lim="400000"/>
          </a:ln>
        </p:spPr>
        <p:txBody>
          <a:bodyPr wrap="none" lIns="0" tIns="0" rIns="0" bIns="0">
            <a:spAutoFit/>
          </a:bodyPr>
          <a:lstStyle/>
          <a:p>
            <a:pPr algn="l" defTabSz="914400" latinLnBrk="1">
              <a:defRPr sz="1800">
                <a:solidFill>
                  <a:srgbClr val="000000"/>
                </a:solidFill>
              </a:defRPr>
            </a:pPr>
            <a14:m>
              <m:oMathPara>
                <m:oMathParaPr>
                  <m:jc m:val="centerGroup"/>
                </m:oMathParaPr>
                <m:oMath>
                  <m:r>
                    <a:rPr xmlns:a="http://schemas.openxmlformats.org/drawingml/2006/main" sz="5700" i="1">
                      <a:solidFill>
                        <a:srgbClr val="F80009"/>
                      </a:solidFill>
                      <a:latin typeface="Cambria Math" panose="02040503050406030204" pitchFamily="18" charset="0"/>
                    </a:rPr>
                    <m:t>u</m:t>
                  </m:r>
                  <m:r>
                    <a:rPr xmlns:a="http://schemas.openxmlformats.org/drawingml/2006/main" sz="5700" i="1">
                      <a:solidFill>
                        <a:srgbClr val="F80009"/>
                      </a:solidFill>
                      <a:latin typeface="Cambria Math" panose="02040503050406030204" pitchFamily="18" charset="0"/>
                    </a:rPr>
                    <m:t>=</m:t>
                  </m:r>
                  <m:r>
                    <a:rPr xmlns:a="http://schemas.openxmlformats.org/drawingml/2006/main" sz="5700" i="1">
                      <a:solidFill>
                        <a:srgbClr val="F80009"/>
                      </a:solidFill>
                      <a:latin typeface="Cambria Math" panose="02040503050406030204" pitchFamily="18" charset="0"/>
                    </a:rPr>
                    <m:t>v</m:t>
                  </m:r>
                  <m:r>
                    <m:rPr>
                      <m:sty m:val="p"/>
                    </m:rPr>
                    <a:rPr xmlns:a="http://schemas.openxmlformats.org/drawingml/2006/main" sz="5700" i="1">
                      <a:solidFill>
                        <a:srgbClr val="F80009"/>
                      </a:solidFill>
                      <a:latin typeface="Cambria Math" panose="02040503050406030204" pitchFamily="18" charset="0"/>
                    </a:rPr>
                    <m:t>tan</m:t>
                  </m:r>
                  <m:f>
                    <m:fPr>
                      <m:ctrlPr>
                        <a:rPr xmlns:a="http://schemas.openxmlformats.org/drawingml/2006/main" sz="5700" i="1">
                          <a:solidFill>
                            <a:srgbClr val="F80009"/>
                          </a:solidFill>
                          <a:latin typeface="Cambria Math" panose="02040503050406030204" pitchFamily="18" charset="0"/>
                        </a:rPr>
                      </m:ctrlPr>
                      <m:type m:val="bar"/>
                    </m:fPr>
                    <m:num>
                      <m:r>
                        <a:rPr xmlns:a="http://schemas.openxmlformats.org/drawingml/2006/main" sz="5700" i="1">
                          <a:solidFill>
                            <a:srgbClr val="F80009"/>
                          </a:solidFill>
                          <a:latin typeface="Cambria Math" panose="02040503050406030204" pitchFamily="18" charset="0"/>
                        </a:rPr>
                        <m:t>θ</m:t>
                      </m:r>
                    </m:num>
                    <m:den>
                      <m:r>
                        <a:rPr xmlns:a="http://schemas.openxmlformats.org/drawingml/2006/main" sz="5700" i="1">
                          <a:solidFill>
                            <a:srgbClr val="F80009"/>
                          </a:solidFill>
                          <a:latin typeface="Cambria Math" panose="02040503050406030204" pitchFamily="18" charset="0"/>
                        </a:rPr>
                        <m:t>2</m:t>
                      </m:r>
                    </m:den>
                  </m:f>
                </m:oMath>
              </m:oMathPara>
            </a14:m>
            <a:endParaRPr sz="5700">
              <a:solidFill>
                <a:srgbClr val="F80009"/>
              </a:solidFill>
            </a:endParaRPr>
          </a:p>
        </p:txBody>
      </p:sp>
      <p:sp>
        <p:nvSpPr>
          <p:cNvPr id="206" name="A cannon system is used to shoot a projectile to the right. An infinitely heavy wedge is dropped from a high altitude on a solid block as shown. On impact, the wedge moves at a terminal velocity  . Find the speed   of the block in terms of   and  ."/>
          <p:cNvSpPr txBox="1"/>
          <p:nvPr>
            <p:ph type="body" idx="1"/>
          </p:nvPr>
        </p:nvSpPr>
        <p:spPr>
          <a:xfrm>
            <a:off x="1206500" y="3783414"/>
            <a:ext cx="21971000" cy="8256012"/>
          </a:xfrm>
          <a:prstGeom prst="rect">
            <a:avLst/>
          </a:prstGeom>
        </p:spPr>
        <p:txBody>
          <a:bodyPr/>
          <a:lstStyle/>
          <a:p>
            <a:pPr marL="609599" indent="-609599">
              <a:defRPr sz="3500"/>
            </a:pPr>
            <a:r>
              <a:t>A cannon system is used to shoot a projectile to the right. An infinitely heavy wedge is dropped from a high altitude on a solid block as shown. On impact, the wedge moves at a terminal velocity </a:t>
            </a:r>
            <a14:m>
              <m:oMath>
                <m:sSub>
                  <m:e>
                    <m:r>
                      <a:rPr xmlns:a="http://schemas.openxmlformats.org/drawingml/2006/main" sz="4200" i="1">
                        <a:solidFill>
                          <a:srgbClr val="000000"/>
                        </a:solidFill>
                        <a:latin typeface="Cambria Math" panose="02040503050406030204" pitchFamily="18" charset="0"/>
                      </a:rPr>
                      <m:t>v</m:t>
                    </m:r>
                  </m:e>
                  <m:sub>
                    <m:r>
                      <a:rPr xmlns:a="http://schemas.openxmlformats.org/drawingml/2006/main" sz="4200" i="1">
                        <a:solidFill>
                          <a:srgbClr val="000000"/>
                        </a:solidFill>
                        <a:latin typeface="Cambria Math" panose="02040503050406030204" pitchFamily="18" charset="0"/>
                      </a:rPr>
                      <m:t>0</m:t>
                    </m:r>
                  </m:sub>
                </m:sSub>
              </m:oMath>
            </a14:m>
            <a:r>
              <a:t>. Find the speed </a:t>
            </a:r>
            <a14:m>
              <m:oMath>
                <m:r>
                  <a:rPr xmlns:a="http://schemas.openxmlformats.org/drawingml/2006/main" sz="4200" i="1">
                    <a:solidFill>
                      <a:srgbClr val="000000"/>
                    </a:solidFill>
                    <a:latin typeface="Cambria Math" panose="02040503050406030204" pitchFamily="18" charset="0"/>
                  </a:rPr>
                  <m:t>u</m:t>
                </m:r>
              </m:oMath>
            </a14:m>
            <a:r>
              <a:t> of the block in terms of </a:t>
            </a:r>
            <a14:m>
              <m:oMath>
                <m:sSub>
                  <m:e>
                    <m:r>
                      <a:rPr xmlns:a="http://schemas.openxmlformats.org/drawingml/2006/main" sz="4200" i="1">
                        <a:solidFill>
                          <a:srgbClr val="000000"/>
                        </a:solidFill>
                        <a:latin typeface="Cambria Math" panose="02040503050406030204" pitchFamily="18" charset="0"/>
                      </a:rPr>
                      <m:t>v</m:t>
                    </m:r>
                  </m:e>
                  <m:sub>
                    <m:r>
                      <a:rPr xmlns:a="http://schemas.openxmlformats.org/drawingml/2006/main" sz="4200" i="1">
                        <a:solidFill>
                          <a:srgbClr val="000000"/>
                        </a:solidFill>
                        <a:latin typeface="Cambria Math" panose="02040503050406030204" pitchFamily="18" charset="0"/>
                      </a:rPr>
                      <m:t>0</m:t>
                    </m:r>
                  </m:sub>
                </m:sSub>
              </m:oMath>
            </a14:m>
            <a:r>
              <a:t> and </a:t>
            </a:r>
            <a14:m>
              <m:oMath>
                <m:r>
                  <a:rPr xmlns:a="http://schemas.openxmlformats.org/drawingml/2006/main" sz="4200" i="1">
                    <a:solidFill>
                      <a:srgbClr val="000000"/>
                    </a:solidFill>
                    <a:latin typeface="Cambria Math" panose="02040503050406030204" pitchFamily="18" charset="0"/>
                  </a:rPr>
                  <m:t>θ</m:t>
                </m:r>
              </m:oMath>
            </a14:m>
            <a:r>
              <a:t>.</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8" name="Example"/>
          <p:cNvSpPr txBox="1"/>
          <p:nvPr>
            <p:ph type="title"/>
          </p:nvPr>
        </p:nvSpPr>
        <p:spPr>
          <a:prstGeom prst="rect">
            <a:avLst/>
          </a:prstGeom>
        </p:spPr>
        <p:txBody>
          <a:bodyPr/>
          <a:lstStyle/>
          <a:p>
            <a:pPr/>
            <a:r>
              <a:t>Example</a:t>
            </a:r>
          </a:p>
        </p:txBody>
      </p:sp>
      <p:sp>
        <p:nvSpPr>
          <p:cNvPr id="209" name="3.2.2. Rotated reference frames"/>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3.2.2. Rotated reference frames</a:t>
            </a:r>
          </a:p>
        </p:txBody>
      </p:sp>
      <p:sp>
        <p:nvSpPr>
          <p:cNvPr id="210" name="A ball is dropped a perpendicular distance   above an inclined plane at angle  . Rotate the reference frame to show that the maximal distance the ball can reach from the plane is always  ."/>
          <p:cNvSpPr txBox="1"/>
          <p:nvPr>
            <p:ph type="body" idx="1"/>
          </p:nvPr>
        </p:nvSpPr>
        <p:spPr>
          <a:xfrm>
            <a:off x="1206500" y="3672678"/>
            <a:ext cx="21971000" cy="8256012"/>
          </a:xfrm>
          <a:prstGeom prst="rect">
            <a:avLst/>
          </a:prstGeom>
        </p:spPr>
        <p:txBody>
          <a:bodyPr/>
          <a:lstStyle/>
          <a:p>
            <a:pPr/>
            <a:r>
              <a:t>A ball is dropped a perpendicular distance </a:t>
            </a:r>
            <a14:m>
              <m:oMath>
                <m:r>
                  <a:rPr xmlns:a="http://schemas.openxmlformats.org/drawingml/2006/main" sz="5750" i="1">
                    <a:solidFill>
                      <a:srgbClr val="000000"/>
                    </a:solidFill>
                    <a:latin typeface="Cambria Math" panose="02040503050406030204" pitchFamily="18" charset="0"/>
                  </a:rPr>
                  <m:t>d</m:t>
                </m:r>
              </m:oMath>
            </a14:m>
            <a:r>
              <a:t> above an inclined plane at angle </a:t>
            </a:r>
            <a14:m>
              <m:oMath>
                <m:r>
                  <a:rPr xmlns:a="http://schemas.openxmlformats.org/drawingml/2006/main" sz="5750" i="1">
                    <a:solidFill>
                      <a:srgbClr val="000000"/>
                    </a:solidFill>
                    <a:latin typeface="Cambria Math" panose="02040503050406030204" pitchFamily="18" charset="0"/>
                  </a:rPr>
                  <m:t>θ</m:t>
                </m:r>
              </m:oMath>
            </a14:m>
            <a:r>
              <a:t>. Rotate the reference frame to show that the maximal distance the ball can reach from the plane is always </a:t>
            </a:r>
            <a14:m>
              <m:oMath>
                <m:r>
                  <a:rPr xmlns:a="http://schemas.openxmlformats.org/drawingml/2006/main" sz="5750" i="1">
                    <a:solidFill>
                      <a:srgbClr val="000000"/>
                    </a:solidFill>
                    <a:latin typeface="Cambria Math" panose="02040503050406030204" pitchFamily="18" charset="0"/>
                  </a:rPr>
                  <m:t>d</m:t>
                </m:r>
              </m:oMath>
            </a14:m>
            <a:r>
              <a:t>.</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2" name="Problem"/>
          <p:cNvSpPr txBox="1"/>
          <p:nvPr>
            <p:ph type="title"/>
          </p:nvPr>
        </p:nvSpPr>
        <p:spPr>
          <a:prstGeom prst="rect">
            <a:avLst/>
          </a:prstGeom>
        </p:spPr>
        <p:txBody>
          <a:bodyPr/>
          <a:lstStyle/>
          <a:p>
            <a:pPr/>
            <a:r>
              <a:t>Problem</a:t>
            </a:r>
          </a:p>
        </p:txBody>
      </p:sp>
      <p:sp>
        <p:nvSpPr>
          <p:cNvPr id="213" name="3.2.2. Rotated reference frames"/>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3.2.2. Rotated reference frames</a:t>
            </a:r>
          </a:p>
        </p:txBody>
      </p:sp>
      <p:sp>
        <p:nvSpPr>
          <p:cNvPr id="214" name="Two perpendicular planes make a V-shape as shown. One is oriented at an angle   to the horizontal. A ball is dropped from rest a distance   from the plane on the right. What must the distance   the ball be from the left plane to bounce exactly once as sh"/>
          <p:cNvSpPr txBox="1"/>
          <p:nvPr>
            <p:ph type="body" idx="1"/>
          </p:nvPr>
        </p:nvSpPr>
        <p:spPr>
          <a:xfrm>
            <a:off x="1206500" y="3783414"/>
            <a:ext cx="21971000" cy="8256012"/>
          </a:xfrm>
          <a:prstGeom prst="rect">
            <a:avLst/>
          </a:prstGeom>
        </p:spPr>
        <p:txBody>
          <a:bodyPr/>
          <a:lstStyle/>
          <a:p>
            <a:pPr/>
            <a:r>
              <a:t>Two perpendicular planes make a V-shape as shown. One is oriented at an angle </a:t>
            </a:r>
            <a14:m>
              <m:oMath>
                <m:r>
                  <a:rPr xmlns:a="http://schemas.openxmlformats.org/drawingml/2006/main" sz="5750" i="1">
                    <a:solidFill>
                      <a:srgbClr val="000000"/>
                    </a:solidFill>
                    <a:latin typeface="Cambria Math" panose="02040503050406030204" pitchFamily="18" charset="0"/>
                  </a:rPr>
                  <m:t>θ</m:t>
                </m:r>
              </m:oMath>
            </a14:m>
            <a:r>
              <a:t> to the horizontal. A ball is dropped from rest a distance </a:t>
            </a:r>
            <a14:m>
              <m:oMath>
                <m:r>
                  <a:rPr xmlns:a="http://schemas.openxmlformats.org/drawingml/2006/main" sz="5750" i="1">
                    <a:solidFill>
                      <a:srgbClr val="000000"/>
                    </a:solidFill>
                    <a:latin typeface="Cambria Math" panose="02040503050406030204" pitchFamily="18" charset="0"/>
                  </a:rPr>
                  <m:t>a</m:t>
                </m:r>
              </m:oMath>
            </a14:m>
            <a:r>
              <a:t> from the plane on the right. What must the distance </a:t>
            </a:r>
            <a14:m>
              <m:oMath>
                <m:r>
                  <a:rPr xmlns:a="http://schemas.openxmlformats.org/drawingml/2006/main" sz="5750" i="1">
                    <a:solidFill>
                      <a:srgbClr val="000000"/>
                    </a:solidFill>
                    <a:latin typeface="Cambria Math" panose="02040503050406030204" pitchFamily="18" charset="0"/>
                  </a:rPr>
                  <m:t>b</m:t>
                </m:r>
              </m:oMath>
            </a14:m>
            <a:r>
              <a:t> the ball be from the left plane to bounce exactly once as shown before falling into the cusp?</a:t>
            </a:r>
          </a:p>
        </p:txBody>
      </p:sp>
      <p:pic>
        <p:nvPicPr>
          <p:cNvPr id="215" name="Screenshot 2023-09-22 at 12.27.05 AM.png" descr="Screenshot 2023-09-22 at 12.27.05 AM.png"/>
          <p:cNvPicPr>
            <a:picLocks noChangeAspect="1"/>
          </p:cNvPicPr>
          <p:nvPr/>
        </p:nvPicPr>
        <p:blipFill>
          <a:blip r:embed="rId2">
            <a:extLst/>
          </a:blip>
          <a:stretch>
            <a:fillRect/>
          </a:stretch>
        </p:blipFill>
        <p:spPr>
          <a:xfrm>
            <a:off x="6860557" y="7165064"/>
            <a:ext cx="10662886" cy="5536857"/>
          </a:xfrm>
          <a:prstGeom prst="rect">
            <a:avLst/>
          </a:prstGeom>
          <a:ln w="12700">
            <a:miter lim="400000"/>
          </a:ln>
        </p:spPr>
      </p:pic>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7" name="Solution"/>
          <p:cNvSpPr txBox="1"/>
          <p:nvPr>
            <p:ph type="title"/>
          </p:nvPr>
        </p:nvSpPr>
        <p:spPr>
          <a:prstGeom prst="rect">
            <a:avLst/>
          </a:prstGeom>
        </p:spPr>
        <p:txBody>
          <a:bodyPr/>
          <a:lstStyle/>
          <a:p>
            <a:pPr/>
            <a:r>
              <a:t>Solution</a:t>
            </a:r>
          </a:p>
        </p:txBody>
      </p:sp>
      <p:sp>
        <p:nvSpPr>
          <p:cNvPr id="218" name="3.2.2. Rotated reference frames"/>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3.2.2. Rotated reference frames</a:t>
            </a:r>
          </a:p>
        </p:txBody>
      </p:sp>
      <p:sp>
        <p:nvSpPr>
          <p:cNvPr id="219" name="Equation"/>
          <p:cNvSpPr txBox="1"/>
          <p:nvPr/>
        </p:nvSpPr>
        <p:spPr>
          <a:xfrm>
            <a:off x="20362324" y="12642098"/>
            <a:ext cx="3459197" cy="510351"/>
          </a:xfrm>
          <a:prstGeom prst="rect">
            <a:avLst/>
          </a:prstGeom>
          <a:ln w="12700">
            <a:miter lim="400000"/>
          </a:ln>
        </p:spPr>
        <p:txBody>
          <a:bodyPr wrap="none" lIns="0" tIns="0" rIns="0" bIns="0">
            <a:spAutoFit/>
          </a:bodyPr>
          <a:lstStyle/>
          <a:p>
            <a:pPr algn="l" defTabSz="914400" latinLnBrk="1">
              <a:defRPr sz="1800">
                <a:solidFill>
                  <a:srgbClr val="000000"/>
                </a:solidFill>
              </a:defRPr>
            </a:pPr>
            <a14:m>
              <m:oMathPara>
                <m:oMathParaPr>
                  <m:jc m:val="centerGroup"/>
                </m:oMathParaPr>
                <m:oMath>
                  <m:r>
                    <a:rPr xmlns:a="http://schemas.openxmlformats.org/drawingml/2006/main" sz="5700" i="1">
                      <a:solidFill>
                        <a:srgbClr val="F80009"/>
                      </a:solidFill>
                      <a:latin typeface="Cambria Math" panose="02040503050406030204" pitchFamily="18" charset="0"/>
                    </a:rPr>
                    <m:t>b</m:t>
                  </m:r>
                  <m:r>
                    <a:rPr xmlns:a="http://schemas.openxmlformats.org/drawingml/2006/main" sz="5700" i="1">
                      <a:solidFill>
                        <a:srgbClr val="F80009"/>
                      </a:solidFill>
                      <a:latin typeface="Cambria Math" panose="02040503050406030204" pitchFamily="18" charset="0"/>
                    </a:rPr>
                    <m:t>=</m:t>
                  </m:r>
                  <m:r>
                    <a:rPr xmlns:a="http://schemas.openxmlformats.org/drawingml/2006/main" sz="5700" i="1">
                      <a:solidFill>
                        <a:srgbClr val="F80009"/>
                      </a:solidFill>
                      <a:latin typeface="Cambria Math" panose="02040503050406030204" pitchFamily="18" charset="0"/>
                    </a:rPr>
                    <m:t>9</m:t>
                  </m:r>
                  <m:r>
                    <a:rPr xmlns:a="http://schemas.openxmlformats.org/drawingml/2006/main" sz="5700" i="1">
                      <a:solidFill>
                        <a:srgbClr val="F80009"/>
                      </a:solidFill>
                      <a:latin typeface="Cambria Math" panose="02040503050406030204" pitchFamily="18" charset="0"/>
                    </a:rPr>
                    <m:t>a</m:t>
                  </m:r>
                  <m:r>
                    <m:rPr>
                      <m:sty m:val="p"/>
                    </m:rPr>
                    <a:rPr xmlns:a="http://schemas.openxmlformats.org/drawingml/2006/main" sz="5700" i="1">
                      <a:solidFill>
                        <a:srgbClr val="F80009"/>
                      </a:solidFill>
                      <a:latin typeface="Cambria Math" panose="02040503050406030204" pitchFamily="18" charset="0"/>
                    </a:rPr>
                    <m:t>tan</m:t>
                  </m:r>
                  <m:r>
                    <a:rPr xmlns:a="http://schemas.openxmlformats.org/drawingml/2006/main" sz="5700" i="1">
                      <a:solidFill>
                        <a:srgbClr val="F80009"/>
                      </a:solidFill>
                      <a:latin typeface="Cambria Math" panose="02040503050406030204" pitchFamily="18" charset="0"/>
                    </a:rPr>
                    <m:t>θ</m:t>
                  </m:r>
                </m:oMath>
              </m:oMathPara>
            </a14:m>
            <a:endParaRPr sz="5700">
              <a:solidFill>
                <a:srgbClr val="F80009"/>
              </a:solidFill>
            </a:endParaRPr>
          </a:p>
        </p:txBody>
      </p:sp>
      <p:sp>
        <p:nvSpPr>
          <p:cNvPr id="220" name="Two perpendicular planes make a V-shape as shown. One is oriented at an angle   to the horizontal. A ball is dropped from rest a distance   from the plane on the right. What must the distance   the ball be from the left plane to bounce exactly once as sh"/>
          <p:cNvSpPr txBox="1"/>
          <p:nvPr>
            <p:ph type="body" idx="1"/>
          </p:nvPr>
        </p:nvSpPr>
        <p:spPr>
          <a:xfrm>
            <a:off x="1206500" y="3783414"/>
            <a:ext cx="21971000" cy="8256012"/>
          </a:xfrm>
          <a:prstGeom prst="rect">
            <a:avLst/>
          </a:prstGeom>
        </p:spPr>
        <p:txBody>
          <a:bodyPr/>
          <a:lstStyle/>
          <a:p>
            <a:pPr marL="609599" indent="-609599">
              <a:defRPr sz="3500"/>
            </a:pPr>
            <a:r>
              <a:t>Two perpendicular planes make a V-shape as shown. One is oriented at an angle </a:t>
            </a:r>
            <a14:m>
              <m:oMath>
                <m:r>
                  <a:rPr xmlns:a="http://schemas.openxmlformats.org/drawingml/2006/main" sz="4200" i="1">
                    <a:solidFill>
                      <a:srgbClr val="000000"/>
                    </a:solidFill>
                    <a:latin typeface="Cambria Math" panose="02040503050406030204" pitchFamily="18" charset="0"/>
                  </a:rPr>
                  <m:t>θ</m:t>
                </m:r>
              </m:oMath>
            </a14:m>
            <a:r>
              <a:t> to the horizontal. A ball is dropped from rest a distance </a:t>
            </a:r>
            <a14:m>
              <m:oMath>
                <m:r>
                  <a:rPr xmlns:a="http://schemas.openxmlformats.org/drawingml/2006/main" sz="4200" i="1">
                    <a:solidFill>
                      <a:srgbClr val="000000"/>
                    </a:solidFill>
                    <a:latin typeface="Cambria Math" panose="02040503050406030204" pitchFamily="18" charset="0"/>
                  </a:rPr>
                  <m:t>a</m:t>
                </m:r>
              </m:oMath>
            </a14:m>
            <a:r>
              <a:t> from the plane on the right. What must the distance </a:t>
            </a:r>
            <a14:m>
              <m:oMath>
                <m:r>
                  <a:rPr xmlns:a="http://schemas.openxmlformats.org/drawingml/2006/main" sz="4200" i="1">
                    <a:solidFill>
                      <a:srgbClr val="000000"/>
                    </a:solidFill>
                    <a:latin typeface="Cambria Math" panose="02040503050406030204" pitchFamily="18" charset="0"/>
                  </a:rPr>
                  <m:t>b</m:t>
                </m:r>
              </m:oMath>
            </a14:m>
            <a:r>
              <a:t> the ball be from the left plane to bounce exactly once as shown before falling into the cusp?</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2" name="Problem"/>
          <p:cNvSpPr txBox="1"/>
          <p:nvPr>
            <p:ph type="title"/>
          </p:nvPr>
        </p:nvSpPr>
        <p:spPr>
          <a:prstGeom prst="rect">
            <a:avLst/>
          </a:prstGeom>
        </p:spPr>
        <p:txBody>
          <a:bodyPr/>
          <a:lstStyle/>
          <a:p>
            <a:pPr/>
            <a:r>
              <a:t>Problem</a:t>
            </a:r>
          </a:p>
        </p:txBody>
      </p:sp>
      <p:sp>
        <p:nvSpPr>
          <p:cNvPr id="223" name="3.2.3. Moving reference frames"/>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3.2.3. Moving reference frames</a:t>
            </a:r>
          </a:p>
        </p:txBody>
      </p:sp>
      <p:sp>
        <p:nvSpPr>
          <p:cNvPr id="224" name="A block is sliding at speed   in the  -direction when it encounters a conveyor belt moving at speed   in the  -direction. The coefficient of friction   decelerates the block at a rate   while it’s on the conveyor belt. How long does it take for the block"/>
          <p:cNvSpPr txBox="1"/>
          <p:nvPr>
            <p:ph type="body" idx="1"/>
          </p:nvPr>
        </p:nvSpPr>
        <p:spPr>
          <a:xfrm>
            <a:off x="1206500" y="3672678"/>
            <a:ext cx="21971000" cy="8256012"/>
          </a:xfrm>
          <a:prstGeom prst="rect">
            <a:avLst/>
          </a:prstGeom>
        </p:spPr>
        <p:txBody>
          <a:bodyPr/>
          <a:lstStyle/>
          <a:p>
            <a:pPr/>
            <a:r>
              <a:t>A block is sliding at speed </a:t>
            </a:r>
            <a14:m>
              <m:oMath>
                <m:r>
                  <a:rPr xmlns:a="http://schemas.openxmlformats.org/drawingml/2006/main" sz="5750" i="1">
                    <a:solidFill>
                      <a:srgbClr val="000000"/>
                    </a:solidFill>
                    <a:latin typeface="Cambria Math" panose="02040503050406030204" pitchFamily="18" charset="0"/>
                  </a:rPr>
                  <m:t>v</m:t>
                </m:r>
              </m:oMath>
            </a14:m>
            <a:r>
              <a:t> in the </a:t>
            </a:r>
            <a14:m>
              <m:oMath>
                <m:r>
                  <a:rPr xmlns:a="http://schemas.openxmlformats.org/drawingml/2006/main" sz="5750" i="1">
                    <a:solidFill>
                      <a:srgbClr val="000000"/>
                    </a:solidFill>
                    <a:latin typeface="Cambria Math" panose="02040503050406030204" pitchFamily="18" charset="0"/>
                  </a:rPr>
                  <m:t>-</m:t>
                </m:r>
                <m:r>
                  <a:rPr xmlns:a="http://schemas.openxmlformats.org/drawingml/2006/main" sz="5750" i="1">
                    <a:solidFill>
                      <a:srgbClr val="000000"/>
                    </a:solidFill>
                    <a:latin typeface="Cambria Math" panose="02040503050406030204" pitchFamily="18" charset="0"/>
                  </a:rPr>
                  <m:t>y</m:t>
                </m:r>
              </m:oMath>
            </a14:m>
            <a:r>
              <a:t>-direction when it encounters a conveyor belt moving at speed </a:t>
            </a:r>
            <a14:m>
              <m:oMath>
                <m:r>
                  <a:rPr xmlns:a="http://schemas.openxmlformats.org/drawingml/2006/main" sz="5750" i="1">
                    <a:solidFill>
                      <a:srgbClr val="000000"/>
                    </a:solidFill>
                    <a:latin typeface="Cambria Math" panose="02040503050406030204" pitchFamily="18" charset="0"/>
                  </a:rPr>
                  <m:t>u</m:t>
                </m:r>
              </m:oMath>
            </a14:m>
            <a:r>
              <a:t> in the </a:t>
            </a:r>
            <a14:m>
              <m:oMath>
                <m:r>
                  <a:rPr xmlns:a="http://schemas.openxmlformats.org/drawingml/2006/main" sz="5750" i="1">
                    <a:solidFill>
                      <a:srgbClr val="000000"/>
                    </a:solidFill>
                    <a:latin typeface="Cambria Math" panose="02040503050406030204" pitchFamily="18" charset="0"/>
                  </a:rPr>
                  <m:t>+</m:t>
                </m:r>
                <m:r>
                  <a:rPr xmlns:a="http://schemas.openxmlformats.org/drawingml/2006/main" sz="5750" i="1">
                    <a:solidFill>
                      <a:srgbClr val="000000"/>
                    </a:solidFill>
                    <a:latin typeface="Cambria Math" panose="02040503050406030204" pitchFamily="18" charset="0"/>
                  </a:rPr>
                  <m:t>x</m:t>
                </m:r>
              </m:oMath>
            </a14:m>
            <a:r>
              <a:t>-direction. The coefficient of friction </a:t>
            </a:r>
            <a14:m>
              <m:oMath>
                <m:r>
                  <a:rPr xmlns:a="http://schemas.openxmlformats.org/drawingml/2006/main" sz="5750" i="1">
                    <a:solidFill>
                      <a:srgbClr val="000000"/>
                    </a:solidFill>
                    <a:latin typeface="Cambria Math" panose="02040503050406030204" pitchFamily="18" charset="0"/>
                  </a:rPr>
                  <m:t>μ</m:t>
                </m:r>
              </m:oMath>
            </a14:m>
            <a:r>
              <a:t> decelerates the block at a rate </a:t>
            </a:r>
            <a14:m>
              <m:oMath>
                <m:r>
                  <a:rPr xmlns:a="http://schemas.openxmlformats.org/drawingml/2006/main" sz="5750" i="1">
                    <a:solidFill>
                      <a:srgbClr val="000000"/>
                    </a:solidFill>
                    <a:latin typeface="Cambria Math" panose="02040503050406030204" pitchFamily="18" charset="0"/>
                  </a:rPr>
                  <m:t>a</m:t>
                </m:r>
                <m:r>
                  <a:rPr xmlns:a="http://schemas.openxmlformats.org/drawingml/2006/main" sz="5750" i="1">
                    <a:solidFill>
                      <a:srgbClr val="000000"/>
                    </a:solidFill>
                    <a:latin typeface="Cambria Math" panose="02040503050406030204" pitchFamily="18" charset="0"/>
                  </a:rPr>
                  <m:t>=</m:t>
                </m:r>
                <m:r>
                  <a:rPr xmlns:a="http://schemas.openxmlformats.org/drawingml/2006/main" sz="5750" i="1">
                    <a:solidFill>
                      <a:srgbClr val="000000"/>
                    </a:solidFill>
                    <a:latin typeface="Cambria Math" panose="02040503050406030204" pitchFamily="18" charset="0"/>
                  </a:rPr>
                  <m:t>μ</m:t>
                </m:r>
                <m:r>
                  <a:rPr xmlns:a="http://schemas.openxmlformats.org/drawingml/2006/main" sz="5750" i="1">
                    <a:solidFill>
                      <a:srgbClr val="000000"/>
                    </a:solidFill>
                    <a:latin typeface="Cambria Math" panose="02040503050406030204" pitchFamily="18" charset="0"/>
                  </a:rPr>
                  <m:t>g</m:t>
                </m:r>
              </m:oMath>
            </a14:m>
            <a:r>
              <a:t> while it’s on the conveyor belt. How long does it take for the block to come to rest?</a:t>
            </a:r>
          </a:p>
          <a:p>
            <a:pPr/>
            <a:r>
              <a:t>(Hint: shift into the rest frame of the conveyor belt)</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6" name="Problem"/>
          <p:cNvSpPr txBox="1"/>
          <p:nvPr>
            <p:ph type="title"/>
          </p:nvPr>
        </p:nvSpPr>
        <p:spPr>
          <a:prstGeom prst="rect">
            <a:avLst/>
          </a:prstGeom>
        </p:spPr>
        <p:txBody>
          <a:bodyPr/>
          <a:lstStyle/>
          <a:p>
            <a:pPr/>
            <a:r>
              <a:t>Problem</a:t>
            </a:r>
          </a:p>
        </p:txBody>
      </p:sp>
      <p:sp>
        <p:nvSpPr>
          <p:cNvPr id="227" name="3.2.4. Reflections"/>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3.2.4. Reflections</a:t>
            </a:r>
          </a:p>
        </p:txBody>
      </p:sp>
      <p:sp>
        <p:nvSpPr>
          <p:cNvPr id="228" name="A ball is thrown at 10 m/s at a 45 degree angle toward a wall that is 5 m in front of it. The ball bounces off the wall elastically and lands behind its launching point some time later. Find the distance between the landing and launching points."/>
          <p:cNvSpPr txBox="1"/>
          <p:nvPr>
            <p:ph type="body" idx="1"/>
          </p:nvPr>
        </p:nvSpPr>
        <p:spPr>
          <a:prstGeom prst="rect">
            <a:avLst/>
          </a:prstGeom>
        </p:spPr>
        <p:txBody>
          <a:bodyPr/>
          <a:lstStyle>
            <a:lvl1pPr marL="609600" indent="-609600">
              <a:buSzPct val="123000"/>
              <a:buChar char="•"/>
              <a:defRPr spc="-48" sz="4800"/>
            </a:lvl1pPr>
          </a:lstStyle>
          <a:p>
            <a:pPr/>
            <a:r>
              <a:t>A ball is thrown at 10 m/s at a 45 degree angle toward a wall that is 5 m in front of it. The ball bounces off the wall elastically and lands behind its launching point some time later. Find the distance between the landing and launching points. </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30_BasicColor">
  <a:themeElements>
    <a:clrScheme name="30_BasicColor">
      <a:dk1>
        <a:srgbClr val="5E5E5E"/>
      </a:dk1>
      <a:lt1>
        <a:srgbClr val="003462"/>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30_BasicColor">
      <a:majorFont>
        <a:latin typeface="Helvetica Neue"/>
        <a:ea typeface="Helvetica Neue"/>
        <a:cs typeface="Helvetica Neue"/>
      </a:majorFont>
      <a:minorFont>
        <a:latin typeface="Helvetica Neue"/>
        <a:ea typeface="Helvetica Neue"/>
        <a:cs typeface="Helvetica Neue"/>
      </a:minorFont>
    </a:fontScheme>
    <a:fmtScheme name="30_BasicCol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30_BasicColor">
  <a:themeElements>
    <a:clrScheme name="30_BasicColor">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30_BasicColor">
      <a:majorFont>
        <a:latin typeface="Helvetica Neue"/>
        <a:ea typeface="Helvetica Neue"/>
        <a:cs typeface="Helvetica Neue"/>
      </a:majorFont>
      <a:minorFont>
        <a:latin typeface="Helvetica Neue"/>
        <a:ea typeface="Helvetica Neue"/>
        <a:cs typeface="Helvetica Neue"/>
      </a:minorFont>
    </a:fontScheme>
    <a:fmtScheme name="30_BasicCol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